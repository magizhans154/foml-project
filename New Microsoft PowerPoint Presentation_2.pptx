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0" r:id="rId13"/>
    <p:sldId id="272" r:id="rId14"/>
    <p:sldId id="273" r:id="rId15"/>
    <p:sldId id="274" r:id="rId16"/>
    <p:sldId id="266" r:id="rId17"/>
    <p:sldId id="267" r:id="rId18"/>
    <p:sldId id="271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422A8-F851-0B06-9E8A-314B0EF5A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93F0A-2D5A-9F44-A6FD-1D8141E21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8189B-5571-6A72-DBAF-2F647FE4C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20A9A-BD3D-49FE-117A-1A341011C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C1307-0761-CC6C-AC79-A160515C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141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B1A9-C5C8-D31D-E9E3-F19A34CF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76128-C242-493E-9A0A-647CEE4CD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4F7B8-58B1-C764-3B38-333996A03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A559E-22BA-01BF-7C30-1451E4865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D21E9-45E7-3258-8914-1B7D069E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345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FE9BF-92B6-B618-DB32-62A76FC31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0BFCC-AC87-DB38-BD11-58095B635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A8F97-4376-75AF-535B-FB3254B14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BC0C8-F419-35F4-7453-7348D02E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A217F-03AF-9602-D69E-2EE99D84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381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2D8B3-8557-1066-F579-A3DD201CA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1987F-7509-BBE1-4DF5-6E789C1ED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8D4C9-BE47-6280-0F80-D76F26CDB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DF425-8A76-A642-2C36-36E90789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9ED43-419A-B258-27B5-3D80A9F10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23866-9CF8-7612-952C-66822089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339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4CF1-1A48-A709-8EEA-AF6B7F5A9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CF164-868C-23B8-9779-794BE55EA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0A2A1-220F-CC87-E63D-A743BF408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74F2A0-44CF-F606-6F0D-FFA78FDF1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10DCB-CE37-91AE-9A9A-F2A01AD54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B4476D-D4BB-CFB5-A7AA-993B5056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9F148A-42D9-2160-3CCD-305AC7FEE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B424AE-B531-D0EB-1E10-76B02DD2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60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613CB-07F9-BDD8-2390-A6ABBD32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2A8B-5979-F30C-AA2B-31594F0F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9B615-B57B-5AC5-9D89-939727970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BA3E1-A95D-FA54-00AC-D9B1E0A0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1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B23604-DDB3-EE0E-17BA-79FF7D144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A6B6F9-6144-73BF-B100-4EFDD6562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51655-B715-E91E-A155-7147E04D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082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E7996-19DC-21DB-4A5A-4C2F484D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3CB4B-5AF5-03F6-7420-F6C149B92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43296-940A-28D2-2080-21AD16E69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966B4-656E-B0A3-8858-1FE1EC31D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0F1AA-038C-78E1-6E99-89C068C0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12E00-4EA8-F259-1CA0-83101143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727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5AA44-3620-F4FA-975B-F25EC81BB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B4F0E9-EEFC-7087-D58F-AE45E16EF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133083-1AA1-FAD5-8A58-D0469FBD8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4A839-1DAF-7392-5531-B833759ED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26591-2649-8723-2217-00129BAA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6A71B-1AD8-5734-386F-86647CC4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483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B4A2D-C0EA-43DC-C002-51ECE134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B1B4B7-6C1C-A064-9F63-2EF91ABDE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DE9CE-12B7-FB99-4364-47E6A6C64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698F8-06FC-D50E-BAC1-268E22DB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EFC6A-5F2B-8540-3687-F07FD34D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8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722959-5F95-F7B3-D409-974020F93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2638EC-A577-9CA7-8650-CEE07644B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A32DB-4B35-5388-D31F-4B695353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77F27-6DC0-FE2C-54DC-C9626121F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B95DD-0A2C-3227-D127-8E81077BF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99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914400" y="2125979"/>
            <a:ext cx="10363200" cy="14401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40479"/>
            <a:ext cx="8534400" cy="17145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597773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955936" y="356407"/>
            <a:ext cx="3711576" cy="10502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577339"/>
            <a:ext cx="10972800" cy="45262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56858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955936" y="356407"/>
            <a:ext cx="3711576" cy="10502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1577339"/>
            <a:ext cx="5303521" cy="45262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1132583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g object 16"/>
          <p:cNvSpPr/>
          <p:nvPr/>
        </p:nvSpPr>
        <p:spPr>
          <a:xfrm>
            <a:off x="766948" y="224858"/>
            <a:ext cx="8780812" cy="10096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86" y="21600"/>
                </a:moveTo>
                <a:lnTo>
                  <a:pt x="414" y="21600"/>
                </a:lnTo>
                <a:lnTo>
                  <a:pt x="304" y="21471"/>
                </a:lnTo>
                <a:lnTo>
                  <a:pt x="205" y="21108"/>
                </a:lnTo>
                <a:lnTo>
                  <a:pt x="121" y="20546"/>
                </a:lnTo>
                <a:lnTo>
                  <a:pt x="57" y="19817"/>
                </a:lnTo>
                <a:lnTo>
                  <a:pt x="15" y="18957"/>
                </a:lnTo>
                <a:lnTo>
                  <a:pt x="0" y="18000"/>
                </a:lnTo>
                <a:lnTo>
                  <a:pt x="0" y="3600"/>
                </a:lnTo>
                <a:lnTo>
                  <a:pt x="15" y="2643"/>
                </a:lnTo>
                <a:lnTo>
                  <a:pt x="57" y="1783"/>
                </a:lnTo>
                <a:lnTo>
                  <a:pt x="121" y="1054"/>
                </a:lnTo>
                <a:lnTo>
                  <a:pt x="205" y="492"/>
                </a:lnTo>
                <a:lnTo>
                  <a:pt x="304" y="129"/>
                </a:lnTo>
                <a:lnTo>
                  <a:pt x="414" y="0"/>
                </a:lnTo>
                <a:lnTo>
                  <a:pt x="21186" y="0"/>
                </a:lnTo>
                <a:lnTo>
                  <a:pt x="21344" y="274"/>
                </a:lnTo>
                <a:lnTo>
                  <a:pt x="21479" y="1054"/>
                </a:lnTo>
                <a:lnTo>
                  <a:pt x="21568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585" y="18957"/>
                </a:lnTo>
                <a:lnTo>
                  <a:pt x="21543" y="19817"/>
                </a:lnTo>
                <a:lnTo>
                  <a:pt x="21479" y="20546"/>
                </a:lnTo>
                <a:lnTo>
                  <a:pt x="21395" y="21108"/>
                </a:lnTo>
                <a:lnTo>
                  <a:pt x="21296" y="21471"/>
                </a:lnTo>
                <a:lnTo>
                  <a:pt x="21186" y="21600"/>
                </a:lnTo>
                <a:close/>
              </a:path>
            </a:pathLst>
          </a:custGeom>
          <a:solidFill>
            <a:srgbClr val="599BD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" name="Title Text"/>
          <p:cNvSpPr txBox="1">
            <a:spLocks noGrp="1"/>
          </p:cNvSpPr>
          <p:nvPr>
            <p:ph type="title"/>
          </p:nvPr>
        </p:nvSpPr>
        <p:spPr>
          <a:xfrm>
            <a:off x="955936" y="356407"/>
            <a:ext cx="3711576" cy="10502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5858148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955936" y="356407"/>
            <a:ext cx="3711576" cy="10502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121924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4599670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593827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E47F7-2026-BDEE-368E-205AE6DF8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AA901-858C-E5EC-30BF-315BE8FA5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5F03A-0F1B-AC47-DCEE-D24E9D60E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6F35B-008B-4CBC-73F6-8A7941A81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5AE88-9E5D-7079-29B0-C798D89C8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82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160316" y="245972"/>
            <a:ext cx="10515601" cy="880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99" y="21600"/>
                </a:moveTo>
                <a:lnTo>
                  <a:pt x="301" y="21600"/>
                </a:lnTo>
                <a:lnTo>
                  <a:pt x="206" y="21416"/>
                </a:lnTo>
                <a:lnTo>
                  <a:pt x="123" y="20905"/>
                </a:lnTo>
                <a:lnTo>
                  <a:pt x="58" y="20126"/>
                </a:lnTo>
                <a:lnTo>
                  <a:pt x="15" y="19138"/>
                </a:lnTo>
                <a:lnTo>
                  <a:pt x="0" y="18000"/>
                </a:lnTo>
                <a:lnTo>
                  <a:pt x="0" y="3600"/>
                </a:lnTo>
                <a:lnTo>
                  <a:pt x="15" y="2462"/>
                </a:lnTo>
                <a:lnTo>
                  <a:pt x="58" y="1474"/>
                </a:lnTo>
                <a:lnTo>
                  <a:pt x="123" y="695"/>
                </a:lnTo>
                <a:lnTo>
                  <a:pt x="206" y="184"/>
                </a:lnTo>
                <a:lnTo>
                  <a:pt x="301" y="0"/>
                </a:lnTo>
                <a:lnTo>
                  <a:pt x="21299" y="0"/>
                </a:lnTo>
                <a:lnTo>
                  <a:pt x="21414" y="274"/>
                </a:lnTo>
                <a:lnTo>
                  <a:pt x="21512" y="1054"/>
                </a:lnTo>
                <a:lnTo>
                  <a:pt x="2157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585" y="19138"/>
                </a:lnTo>
                <a:lnTo>
                  <a:pt x="21542" y="20126"/>
                </a:lnTo>
                <a:lnTo>
                  <a:pt x="21477" y="20905"/>
                </a:lnTo>
                <a:lnTo>
                  <a:pt x="21394" y="21416"/>
                </a:lnTo>
                <a:lnTo>
                  <a:pt x="21299" y="21600"/>
                </a:lnTo>
                <a:close/>
              </a:path>
            </a:pathLst>
          </a:custGeom>
          <a:solidFill>
            <a:srgbClr val="5B9BD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15427" y="6377940"/>
            <a:ext cx="266974" cy="279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500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scholar.google.com/scholar_lookup?journal=Proceedings%20of%20the%202021%20IEEE%20International%20Conference%20on%20Mobile%20Networks%20and%20Wireless%20Communications%20(ICMNWC)&amp;title=Harris%20Hawks%20Optimization%20(HHO)%20Algorithm%20based%20on%20Artificial%20Neural%20Network%20for%20Heart%20Disease%20Diagnosis&amp;author=H.%20Al-Safi&amp;author=J.%20Munilla&amp;author=J.%20Rahebi&amp;pages=1-5&amp;" TargetMode="External"/><Relationship Id="rId3" Type="http://schemas.openxmlformats.org/officeDocument/2006/relationships/hyperlink" Target="https://doi.org/10.1155/2021/3248834" TargetMode="External"/><Relationship Id="rId7" Type="http://schemas.openxmlformats.org/officeDocument/2006/relationships/hyperlink" Target="https://pmc.ncbi.nlm.nih.gov/articles/PMC10973228/" TargetMode="External"/><Relationship Id="rId2" Type="http://schemas.openxmlformats.org/officeDocument/2006/relationships/hyperlink" Target="https://scholar.google.com/scholar_lookup?title=World%20Health%20Statistics%202021&amp;publication_year=2021&amp;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scholar.google.com/scholar_lookup?journal=BioMed%20Res.%20Int.&amp;title=Diagnosis%20of%20Multiple%20Sclerosis%20Disease%20in%20Brain%20Magnetic%20Resonance%20Imaging%20Based%20on%20the%20Harris%20Hawks%20Optimization%20Algorithm&amp;author=A.F.A.%20Iswisi&amp;author=O.%20Karan&amp;author=J.%20Rahebi&amp;volume=2021&amp;publication_year=2021&amp;pages=3248834&amp;pmid=34988224&amp;doi=10.1155/2021/3248834&amp;" TargetMode="External"/><Relationship Id="rId5" Type="http://schemas.openxmlformats.org/officeDocument/2006/relationships/hyperlink" Target="https://pubmed.ncbi.nlm.nih.gov/34988224/" TargetMode="External"/><Relationship Id="rId4" Type="http://schemas.openxmlformats.org/officeDocument/2006/relationships/hyperlink" Target="https://pmc.ncbi.nlm.nih.gov/articles/PMC8723867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bject 2"/>
          <p:cNvSpPr/>
          <p:nvPr/>
        </p:nvSpPr>
        <p:spPr>
          <a:xfrm>
            <a:off x="1227762" y="1322028"/>
            <a:ext cx="9144001" cy="1216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21" y="21600"/>
                </a:moveTo>
                <a:lnTo>
                  <a:pt x="479" y="21600"/>
                </a:lnTo>
                <a:lnTo>
                  <a:pt x="369" y="21505"/>
                </a:lnTo>
                <a:lnTo>
                  <a:pt x="268" y="21234"/>
                </a:lnTo>
                <a:lnTo>
                  <a:pt x="179" y="20809"/>
                </a:lnTo>
                <a:lnTo>
                  <a:pt x="105" y="20252"/>
                </a:lnTo>
                <a:lnTo>
                  <a:pt x="49" y="19583"/>
                </a:lnTo>
                <a:lnTo>
                  <a:pt x="13" y="18825"/>
                </a:lnTo>
                <a:lnTo>
                  <a:pt x="0" y="18000"/>
                </a:lnTo>
                <a:lnTo>
                  <a:pt x="0" y="3600"/>
                </a:lnTo>
                <a:lnTo>
                  <a:pt x="13" y="2775"/>
                </a:lnTo>
                <a:lnTo>
                  <a:pt x="49" y="2017"/>
                </a:lnTo>
                <a:lnTo>
                  <a:pt x="105" y="1348"/>
                </a:lnTo>
                <a:lnTo>
                  <a:pt x="179" y="791"/>
                </a:lnTo>
                <a:lnTo>
                  <a:pt x="268" y="366"/>
                </a:lnTo>
                <a:lnTo>
                  <a:pt x="369" y="95"/>
                </a:lnTo>
                <a:lnTo>
                  <a:pt x="479" y="0"/>
                </a:lnTo>
                <a:lnTo>
                  <a:pt x="21121" y="0"/>
                </a:lnTo>
                <a:lnTo>
                  <a:pt x="21215" y="70"/>
                </a:lnTo>
                <a:lnTo>
                  <a:pt x="21304" y="274"/>
                </a:lnTo>
                <a:lnTo>
                  <a:pt x="21387" y="605"/>
                </a:lnTo>
                <a:lnTo>
                  <a:pt x="21460" y="1054"/>
                </a:lnTo>
                <a:lnTo>
                  <a:pt x="21520" y="1603"/>
                </a:lnTo>
                <a:lnTo>
                  <a:pt x="21564" y="2222"/>
                </a:lnTo>
                <a:lnTo>
                  <a:pt x="21591" y="2894"/>
                </a:lnTo>
                <a:lnTo>
                  <a:pt x="21600" y="3600"/>
                </a:lnTo>
                <a:lnTo>
                  <a:pt x="21600" y="18000"/>
                </a:lnTo>
                <a:lnTo>
                  <a:pt x="21587" y="18825"/>
                </a:lnTo>
                <a:lnTo>
                  <a:pt x="21551" y="19583"/>
                </a:lnTo>
                <a:lnTo>
                  <a:pt x="21495" y="20252"/>
                </a:lnTo>
                <a:lnTo>
                  <a:pt x="21421" y="20809"/>
                </a:lnTo>
                <a:lnTo>
                  <a:pt x="21332" y="21234"/>
                </a:lnTo>
                <a:lnTo>
                  <a:pt x="21231" y="21505"/>
                </a:lnTo>
                <a:lnTo>
                  <a:pt x="21121" y="21600"/>
                </a:lnTo>
                <a:close/>
              </a:path>
            </a:pathLst>
          </a:custGeom>
          <a:solidFill>
            <a:srgbClr val="599BD4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   HEART DISEASE PREDICTOR</a:t>
            </a:r>
            <a:endParaRPr kumimoji="0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object 3"/>
          <p:cNvSpPr txBox="1"/>
          <p:nvPr/>
        </p:nvSpPr>
        <p:spPr>
          <a:xfrm>
            <a:off x="4222741" y="3406685"/>
            <a:ext cx="29718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z="2000" spc="-195">
                <a:solidFill>
                  <a:srgbClr val="0070C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 marL="0" marR="0" lvl="0" indent="1270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-195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Black"/>
                <a:sym typeface="Arial Black"/>
              </a:rPr>
              <a:t>by</a:t>
            </a:r>
          </a:p>
        </p:txBody>
      </p:sp>
      <p:sp>
        <p:nvSpPr>
          <p:cNvPr id="74" name="object 4"/>
          <p:cNvSpPr txBox="1"/>
          <p:nvPr/>
        </p:nvSpPr>
        <p:spPr>
          <a:xfrm>
            <a:off x="8146681" y="4927572"/>
            <a:ext cx="7366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z="2000" spc="-145">
                <a:solidFill>
                  <a:srgbClr val="0070C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 marL="0" marR="0" lvl="0" indent="1270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-145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Black"/>
                <a:sym typeface="Arial Black"/>
              </a:rPr>
              <a:t>Guide</a:t>
            </a:r>
          </a:p>
        </p:txBody>
      </p:sp>
      <p:sp>
        <p:nvSpPr>
          <p:cNvPr id="76" name="TextBox 5"/>
          <p:cNvSpPr txBox="1"/>
          <p:nvPr/>
        </p:nvSpPr>
        <p:spPr>
          <a:xfrm>
            <a:off x="5127000" y="3393985"/>
            <a:ext cx="2499361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MAGIZHAN SIVAKUMAR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(220701154)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object 2"/>
          <p:cNvSpPr/>
          <p:nvPr/>
        </p:nvSpPr>
        <p:spPr>
          <a:xfrm>
            <a:off x="838199" y="373466"/>
            <a:ext cx="9315203" cy="1031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01" y="21600"/>
                </a:moveTo>
                <a:lnTo>
                  <a:pt x="399" y="21600"/>
                </a:lnTo>
                <a:lnTo>
                  <a:pt x="293" y="21471"/>
                </a:lnTo>
                <a:lnTo>
                  <a:pt x="197" y="21109"/>
                </a:lnTo>
                <a:lnTo>
                  <a:pt x="117" y="20546"/>
                </a:lnTo>
                <a:lnTo>
                  <a:pt x="54" y="19817"/>
                </a:lnTo>
                <a:lnTo>
                  <a:pt x="14" y="18957"/>
                </a:lnTo>
                <a:lnTo>
                  <a:pt x="0" y="18000"/>
                </a:lnTo>
                <a:lnTo>
                  <a:pt x="0" y="3600"/>
                </a:lnTo>
                <a:lnTo>
                  <a:pt x="14" y="2643"/>
                </a:lnTo>
                <a:lnTo>
                  <a:pt x="54" y="1783"/>
                </a:lnTo>
                <a:lnTo>
                  <a:pt x="117" y="1054"/>
                </a:lnTo>
                <a:lnTo>
                  <a:pt x="197" y="491"/>
                </a:lnTo>
                <a:lnTo>
                  <a:pt x="293" y="129"/>
                </a:lnTo>
                <a:lnTo>
                  <a:pt x="399" y="0"/>
                </a:lnTo>
                <a:lnTo>
                  <a:pt x="21201" y="0"/>
                </a:lnTo>
                <a:lnTo>
                  <a:pt x="21354" y="274"/>
                </a:lnTo>
                <a:lnTo>
                  <a:pt x="21483" y="1054"/>
                </a:lnTo>
                <a:lnTo>
                  <a:pt x="21570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586" y="18957"/>
                </a:lnTo>
                <a:lnTo>
                  <a:pt x="21546" y="19817"/>
                </a:lnTo>
                <a:lnTo>
                  <a:pt x="21483" y="20546"/>
                </a:lnTo>
                <a:lnTo>
                  <a:pt x="21403" y="21109"/>
                </a:lnTo>
                <a:lnTo>
                  <a:pt x="21307" y="21471"/>
                </a:lnTo>
                <a:lnTo>
                  <a:pt x="21201" y="21600"/>
                </a:lnTo>
                <a:close/>
              </a:path>
            </a:pathLst>
          </a:custGeom>
          <a:solidFill>
            <a:srgbClr val="599BD4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object 3"/>
          <p:cNvSpPr txBox="1">
            <a:spLocks noGrp="1"/>
          </p:cNvSpPr>
          <p:nvPr>
            <p:ph type="title"/>
          </p:nvPr>
        </p:nvSpPr>
        <p:spPr>
          <a:xfrm>
            <a:off x="1037771" y="507280"/>
            <a:ext cx="8989807" cy="680722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4300" spc="-100"/>
            </a:lvl1pPr>
          </a:lstStyle>
          <a:p>
            <a:r>
              <a:rPr lang="en-IN" dirty="0"/>
              <a:t>Introduction</a:t>
            </a:r>
          </a:p>
        </p:txBody>
      </p:sp>
      <p:sp>
        <p:nvSpPr>
          <p:cNvPr id="80" name="TextBox 4"/>
          <p:cNvSpPr txBox="1"/>
          <p:nvPr/>
        </p:nvSpPr>
        <p:spPr>
          <a:xfrm>
            <a:off x="960119" y="1905000"/>
            <a:ext cx="6690362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50" marR="0" lvl="0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274231-AE5D-8DA5-D6F8-2F14593F6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514" y="1698116"/>
            <a:ext cx="1098859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Heart disease prediction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is essential for early diagnosis, timely intervention, and reducing death rates.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Traditional diagnostic approaches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may not effectively capture the complex relationships among multiple risk factors.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Machine learning techniques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offer a data-driven approach by analyzing historical medical data to uncover hidden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This project uses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Random Forest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and other classification algorithms to predict the presence of heart disease.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The goal is to improve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prediction accuracy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,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model interpretability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, and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practical usability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in clinical healthcare settings.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bject 2"/>
          <p:cNvSpPr txBox="1">
            <a:spLocks noGrp="1"/>
          </p:cNvSpPr>
          <p:nvPr>
            <p:ph type="title"/>
          </p:nvPr>
        </p:nvSpPr>
        <p:spPr>
          <a:xfrm>
            <a:off x="955936" y="356408"/>
            <a:ext cx="3711576" cy="1050212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z="4200" spc="-100"/>
            </a:pPr>
            <a:r>
              <a:rPr dirty="0"/>
              <a:t>Literature</a:t>
            </a:r>
            <a:r>
              <a:rPr spc="-200" dirty="0"/>
              <a:t> </a:t>
            </a:r>
            <a:r>
              <a:rPr dirty="0"/>
              <a:t>Survey</a:t>
            </a:r>
          </a:p>
        </p:txBody>
      </p:sp>
      <p:sp>
        <p:nvSpPr>
          <p:cNvPr id="84" name="Rectangle 1"/>
          <p:cNvSpPr txBox="1"/>
          <p:nvPr/>
        </p:nvSpPr>
        <p:spPr>
          <a:xfrm>
            <a:off x="1001656" y="3075294"/>
            <a:ext cx="7944224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marL="0" marR="0" lvl="0" indent="0" algn="just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3B2B3-CE0A-9DF0-2457-E84A20736788}"/>
              </a:ext>
            </a:extLst>
          </p:cNvPr>
          <p:cNvSpPr txBox="1"/>
          <p:nvPr/>
        </p:nvSpPr>
        <p:spPr>
          <a:xfrm>
            <a:off x="754942" y="2105798"/>
            <a:ext cx="8437651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Kumar &amp; Paul (2016)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compared ML algorithms and found SVM gave the best results (~86%).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Javeed et al. (2019)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proposed an optimized Random Forest model, achieving over 90% accuracy.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Most existing models focus on accuracy but lack clinical interpretability and real-world usability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object 2"/>
          <p:cNvSpPr txBox="1">
            <a:spLocks noGrp="1"/>
          </p:cNvSpPr>
          <p:nvPr>
            <p:ph type="title"/>
          </p:nvPr>
        </p:nvSpPr>
        <p:spPr>
          <a:xfrm>
            <a:off x="955936" y="356408"/>
            <a:ext cx="3711576" cy="1050212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z="4200" spc="-100"/>
            </a:pPr>
            <a:r>
              <a:t>Literature</a:t>
            </a:r>
            <a:r>
              <a:rPr spc="-200"/>
              <a:t> </a:t>
            </a:r>
            <a:r>
              <a:t>Survey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B64FCE-0310-0CC4-F782-4D793050F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21" y="1723677"/>
            <a:ext cx="1032508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The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Framingham Heart Study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 identified major risk factors for heart disease but relied on traditional statistical methods with limited accuracy for complex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Studies using the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UCI Heart Disease Dataset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 applied machine learning models like Decision Trees, SVM, and Neural Networks, showing improved prediction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Gudadhe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 et al. (2010)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 found Decision Trees to be effective, with around 81%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Soni et al. (2011)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 used a hybrid clustering-classification approach, showing better accuracy than single models.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object 2"/>
          <p:cNvSpPr/>
          <p:nvPr/>
        </p:nvSpPr>
        <p:spPr>
          <a:xfrm>
            <a:off x="838200" y="368317"/>
            <a:ext cx="8795286" cy="10502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60" y="21600"/>
                </a:moveTo>
                <a:lnTo>
                  <a:pt x="540" y="21600"/>
                </a:lnTo>
                <a:lnTo>
                  <a:pt x="431" y="21527"/>
                </a:lnTo>
                <a:lnTo>
                  <a:pt x="330" y="21317"/>
                </a:lnTo>
                <a:lnTo>
                  <a:pt x="238" y="20985"/>
                </a:lnTo>
                <a:lnTo>
                  <a:pt x="158" y="20546"/>
                </a:lnTo>
                <a:lnTo>
                  <a:pt x="92" y="20013"/>
                </a:lnTo>
                <a:lnTo>
                  <a:pt x="42" y="19401"/>
                </a:lnTo>
                <a:lnTo>
                  <a:pt x="11" y="18725"/>
                </a:lnTo>
                <a:lnTo>
                  <a:pt x="0" y="18000"/>
                </a:lnTo>
                <a:lnTo>
                  <a:pt x="0" y="3600"/>
                </a:lnTo>
                <a:lnTo>
                  <a:pt x="11" y="2875"/>
                </a:lnTo>
                <a:lnTo>
                  <a:pt x="42" y="2199"/>
                </a:lnTo>
                <a:lnTo>
                  <a:pt x="92" y="1587"/>
                </a:lnTo>
                <a:lnTo>
                  <a:pt x="158" y="1054"/>
                </a:lnTo>
                <a:lnTo>
                  <a:pt x="238" y="615"/>
                </a:lnTo>
                <a:lnTo>
                  <a:pt x="330" y="283"/>
                </a:lnTo>
                <a:lnTo>
                  <a:pt x="431" y="73"/>
                </a:lnTo>
                <a:lnTo>
                  <a:pt x="540" y="0"/>
                </a:lnTo>
                <a:lnTo>
                  <a:pt x="21060" y="0"/>
                </a:lnTo>
                <a:lnTo>
                  <a:pt x="21166" y="70"/>
                </a:lnTo>
                <a:lnTo>
                  <a:pt x="21267" y="274"/>
                </a:lnTo>
                <a:lnTo>
                  <a:pt x="21360" y="605"/>
                </a:lnTo>
                <a:lnTo>
                  <a:pt x="21442" y="1054"/>
                </a:lnTo>
                <a:lnTo>
                  <a:pt x="21509" y="1603"/>
                </a:lnTo>
                <a:lnTo>
                  <a:pt x="21559" y="2222"/>
                </a:lnTo>
                <a:lnTo>
                  <a:pt x="21590" y="2894"/>
                </a:lnTo>
                <a:lnTo>
                  <a:pt x="21600" y="3600"/>
                </a:lnTo>
                <a:lnTo>
                  <a:pt x="21600" y="18000"/>
                </a:lnTo>
                <a:lnTo>
                  <a:pt x="21589" y="18725"/>
                </a:lnTo>
                <a:lnTo>
                  <a:pt x="21558" y="19401"/>
                </a:lnTo>
                <a:lnTo>
                  <a:pt x="21508" y="20013"/>
                </a:lnTo>
                <a:lnTo>
                  <a:pt x="21442" y="20546"/>
                </a:lnTo>
                <a:lnTo>
                  <a:pt x="21362" y="20985"/>
                </a:lnTo>
                <a:lnTo>
                  <a:pt x="21270" y="21317"/>
                </a:lnTo>
                <a:lnTo>
                  <a:pt x="21169" y="21527"/>
                </a:lnTo>
                <a:lnTo>
                  <a:pt x="21060" y="21600"/>
                </a:lnTo>
                <a:close/>
              </a:path>
            </a:pathLst>
          </a:custGeom>
          <a:solidFill>
            <a:srgbClr val="599BD4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object 3"/>
          <p:cNvSpPr txBox="1">
            <a:spLocks noGrp="1"/>
          </p:cNvSpPr>
          <p:nvPr>
            <p:ph type="title"/>
          </p:nvPr>
        </p:nvSpPr>
        <p:spPr>
          <a:xfrm>
            <a:off x="955936" y="356408"/>
            <a:ext cx="3711576" cy="1050212"/>
          </a:xfrm>
          <a:prstGeom prst="rect">
            <a:avLst/>
          </a:prstGeom>
        </p:spPr>
        <p:txBody>
          <a:bodyPr/>
          <a:lstStyle>
            <a:lvl1pPr indent="156210">
              <a:spcBef>
                <a:spcPts val="100"/>
              </a:spcBef>
              <a:defRPr spc="-99"/>
            </a:lvl1pPr>
          </a:lstStyle>
          <a:p>
            <a:r>
              <a:t>Objectives</a:t>
            </a:r>
          </a:p>
        </p:txBody>
      </p:sp>
      <p:sp>
        <p:nvSpPr>
          <p:cNvPr id="91" name="Rectangle 1"/>
          <p:cNvSpPr txBox="1"/>
          <p:nvPr/>
        </p:nvSpPr>
        <p:spPr>
          <a:xfrm>
            <a:off x="838200" y="1595021"/>
            <a:ext cx="8858624" cy="5262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To develop a machine learning-based model for accurately predicting the presence of heart disease using medical data.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To compare the performance of different classifiers such as Random Forest, Support Vector Machine, and Logistic Regression.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To identify and analyze the most significant features (risk factors) contributing to heart disease.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To improve model interpretability, making predictions more understandable for healthcare professionals.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To build a user-friendly interface or tool that can assist in early diagnosis and support clinical decision-making.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To evaluate the model using appropriate metrics such as accuracy, precision, recall, and F1-score for reliable assessment.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object 2"/>
          <p:cNvSpPr/>
          <p:nvPr/>
        </p:nvSpPr>
        <p:spPr>
          <a:xfrm>
            <a:off x="271530" y="365124"/>
            <a:ext cx="10569039" cy="12682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68" y="21600"/>
                </a:moveTo>
                <a:lnTo>
                  <a:pt x="432" y="21600"/>
                </a:lnTo>
                <a:lnTo>
                  <a:pt x="333" y="21505"/>
                </a:lnTo>
                <a:lnTo>
                  <a:pt x="242" y="21234"/>
                </a:lnTo>
                <a:lnTo>
                  <a:pt x="162" y="20809"/>
                </a:lnTo>
                <a:lnTo>
                  <a:pt x="95" y="20252"/>
                </a:lnTo>
                <a:lnTo>
                  <a:pt x="44" y="19583"/>
                </a:lnTo>
                <a:lnTo>
                  <a:pt x="11" y="18825"/>
                </a:lnTo>
                <a:lnTo>
                  <a:pt x="0" y="18000"/>
                </a:lnTo>
                <a:lnTo>
                  <a:pt x="0" y="3600"/>
                </a:lnTo>
                <a:lnTo>
                  <a:pt x="11" y="2775"/>
                </a:lnTo>
                <a:lnTo>
                  <a:pt x="44" y="2017"/>
                </a:lnTo>
                <a:lnTo>
                  <a:pt x="95" y="1348"/>
                </a:lnTo>
                <a:lnTo>
                  <a:pt x="162" y="791"/>
                </a:lnTo>
                <a:lnTo>
                  <a:pt x="242" y="366"/>
                </a:lnTo>
                <a:lnTo>
                  <a:pt x="333" y="95"/>
                </a:lnTo>
                <a:lnTo>
                  <a:pt x="432" y="0"/>
                </a:lnTo>
                <a:lnTo>
                  <a:pt x="21168" y="0"/>
                </a:lnTo>
                <a:lnTo>
                  <a:pt x="21253" y="70"/>
                </a:lnTo>
                <a:lnTo>
                  <a:pt x="21333" y="274"/>
                </a:lnTo>
                <a:lnTo>
                  <a:pt x="21408" y="605"/>
                </a:lnTo>
                <a:lnTo>
                  <a:pt x="21473" y="1054"/>
                </a:lnTo>
                <a:lnTo>
                  <a:pt x="21527" y="1603"/>
                </a:lnTo>
                <a:lnTo>
                  <a:pt x="21567" y="2222"/>
                </a:lnTo>
                <a:lnTo>
                  <a:pt x="21592" y="2894"/>
                </a:lnTo>
                <a:lnTo>
                  <a:pt x="21600" y="3600"/>
                </a:lnTo>
                <a:lnTo>
                  <a:pt x="21600" y="18000"/>
                </a:lnTo>
                <a:lnTo>
                  <a:pt x="21589" y="18825"/>
                </a:lnTo>
                <a:lnTo>
                  <a:pt x="21556" y="19583"/>
                </a:lnTo>
                <a:lnTo>
                  <a:pt x="21505" y="20252"/>
                </a:lnTo>
                <a:lnTo>
                  <a:pt x="21438" y="20809"/>
                </a:lnTo>
                <a:lnTo>
                  <a:pt x="21358" y="21234"/>
                </a:lnTo>
                <a:lnTo>
                  <a:pt x="21267" y="21505"/>
                </a:lnTo>
                <a:lnTo>
                  <a:pt x="21168" y="21600"/>
                </a:lnTo>
                <a:close/>
              </a:path>
            </a:pathLst>
          </a:custGeom>
          <a:solidFill>
            <a:srgbClr val="5B9BD4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kumimoji="0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object 3"/>
          <p:cNvSpPr txBox="1"/>
          <p:nvPr/>
        </p:nvSpPr>
        <p:spPr>
          <a:xfrm>
            <a:off x="396195" y="840619"/>
            <a:ext cx="1885951" cy="677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1270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 spc="-10">
                <a:solidFill>
                  <a:srgbClr val="FFFFFF"/>
                </a:solidFill>
              </a:defRPr>
            </a:pPr>
            <a:endParaRPr kumimoji="0" sz="4400" b="0" i="0" u="none" strike="noStrike" kern="0" cap="none" spc="-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object 4" descr="object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5294" y="0"/>
            <a:ext cx="1456706" cy="525031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Straight Connector 6"/>
          <p:cNvSpPr/>
          <p:nvPr/>
        </p:nvSpPr>
        <p:spPr>
          <a:xfrm>
            <a:off x="4038600" y="2030934"/>
            <a:ext cx="1905001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Straight Connector 8"/>
          <p:cNvSpPr/>
          <p:nvPr/>
        </p:nvSpPr>
        <p:spPr>
          <a:xfrm>
            <a:off x="2895600" y="5750764"/>
            <a:ext cx="1295401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Straight Connector 11"/>
          <p:cNvSpPr/>
          <p:nvPr/>
        </p:nvSpPr>
        <p:spPr>
          <a:xfrm>
            <a:off x="5638800" y="5750764"/>
            <a:ext cx="1524001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7D6233-5721-D911-58BD-7B680D907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134" y="1881294"/>
            <a:ext cx="4324350" cy="4143375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object 2"/>
          <p:cNvSpPr/>
          <p:nvPr/>
        </p:nvSpPr>
        <p:spPr>
          <a:xfrm>
            <a:off x="838200" y="365124"/>
            <a:ext cx="8795286" cy="10554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68" y="21600"/>
                </a:moveTo>
                <a:lnTo>
                  <a:pt x="432" y="21600"/>
                </a:lnTo>
                <a:lnTo>
                  <a:pt x="317" y="21471"/>
                </a:lnTo>
                <a:lnTo>
                  <a:pt x="214" y="21108"/>
                </a:lnTo>
                <a:lnTo>
                  <a:pt x="127" y="20546"/>
                </a:lnTo>
                <a:lnTo>
                  <a:pt x="59" y="19817"/>
                </a:lnTo>
                <a:lnTo>
                  <a:pt x="15" y="18957"/>
                </a:lnTo>
                <a:lnTo>
                  <a:pt x="0" y="18000"/>
                </a:lnTo>
                <a:lnTo>
                  <a:pt x="0" y="3600"/>
                </a:lnTo>
                <a:lnTo>
                  <a:pt x="15" y="2643"/>
                </a:lnTo>
                <a:lnTo>
                  <a:pt x="59" y="1783"/>
                </a:lnTo>
                <a:lnTo>
                  <a:pt x="127" y="1054"/>
                </a:lnTo>
                <a:lnTo>
                  <a:pt x="214" y="492"/>
                </a:lnTo>
                <a:lnTo>
                  <a:pt x="317" y="129"/>
                </a:lnTo>
                <a:lnTo>
                  <a:pt x="432" y="0"/>
                </a:lnTo>
                <a:lnTo>
                  <a:pt x="21168" y="0"/>
                </a:lnTo>
                <a:lnTo>
                  <a:pt x="21333" y="274"/>
                </a:lnTo>
                <a:lnTo>
                  <a:pt x="21473" y="1054"/>
                </a:lnTo>
                <a:lnTo>
                  <a:pt x="2156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585" y="18957"/>
                </a:lnTo>
                <a:lnTo>
                  <a:pt x="21541" y="19817"/>
                </a:lnTo>
                <a:lnTo>
                  <a:pt x="21473" y="20546"/>
                </a:lnTo>
                <a:lnTo>
                  <a:pt x="21386" y="21108"/>
                </a:lnTo>
                <a:lnTo>
                  <a:pt x="21283" y="21471"/>
                </a:lnTo>
                <a:lnTo>
                  <a:pt x="21168" y="21600"/>
                </a:lnTo>
                <a:close/>
              </a:path>
            </a:pathLst>
          </a:custGeom>
          <a:solidFill>
            <a:srgbClr val="5B9BD4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object 3"/>
          <p:cNvSpPr txBox="1"/>
          <p:nvPr/>
        </p:nvSpPr>
        <p:spPr>
          <a:xfrm>
            <a:off x="962748" y="734193"/>
            <a:ext cx="5571616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indent="12700">
              <a:spcBef>
                <a:spcPts val="100"/>
              </a:spcBef>
              <a:defRPr spc="-10">
                <a:solidFill>
                  <a:srgbClr val="FFFFFF"/>
                </a:solidFill>
              </a:defRPr>
            </a:lvl1pPr>
          </a:lstStyle>
          <a:p>
            <a:pPr marL="0" marR="0" lvl="0" indent="1270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E20A2-EF14-B7B4-0AFC-DE1BEA06E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169" y="1420558"/>
            <a:ext cx="1020223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Data Collection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: Use the UCI Heart Disease dataset with relevant medical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Data Preprocessing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: Handle missing values, encode categorical variables, normalize data, and split into training/testing 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Feature Selection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: Use techniques like correlation analysis or model-based importance to select key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Model Training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: Train models such as Random Forest, SVM, Logistic Regression, and KNN.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Model Evaluation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: Evaluate using accuracy, precision, recall, F1-score, and ROC-AUC.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Interpretation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: Use feature importance or SHAP values to explain model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Deployment (Optional)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: Create a simple interface (e.g., web app) for real-time heart disease prediction.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103251-6921-F4E3-94D8-6A7CFF9F2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294" y="1081439"/>
            <a:ext cx="1087115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Step 1: Environment Setup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Use Python with libraries like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pandas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,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numpy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,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scikit-learn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,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matplotlib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, and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seaborn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for data handling and modeling.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Step 2: Load and Explore Data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Import the UCI Heart Disease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Analyze structure, data types, and identify missing or inconsistent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Step 3: Data Preprocessing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Handle missing data (if any), encode categorical variables (e.g., chest pain type), and normalize numeric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Split data into training and testing sets (e.g., 80% train, 20% test).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Step 4: Train Models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Implement multiple models including: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Random Forest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Support Vector Machine (SVM)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Logistic Regression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K-Nearest Neighbors (KNN)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Use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GridSearchCV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for hyperparameter tuning where necessary.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BC718CA-816E-DE92-51B0-96DF7A92A80E}"/>
              </a:ext>
            </a:extLst>
          </p:cNvPr>
          <p:cNvSpPr txBox="1"/>
          <p:nvPr/>
        </p:nvSpPr>
        <p:spPr>
          <a:xfrm>
            <a:off x="276309" y="527441"/>
            <a:ext cx="4871043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indent="12700">
              <a:spcBef>
                <a:spcPts val="100"/>
              </a:spcBef>
              <a:defRPr spc="-10">
                <a:solidFill>
                  <a:srgbClr val="FFFFFF"/>
                </a:solidFill>
              </a:defRPr>
            </a:lvl1pPr>
          </a:lstStyle>
          <a:p>
            <a:pPr marL="0" marR="0" lvl="0" indent="1270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Implementation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object 2"/>
          <p:cNvSpPr txBox="1"/>
          <p:nvPr/>
        </p:nvSpPr>
        <p:spPr>
          <a:xfrm>
            <a:off x="276309" y="527441"/>
            <a:ext cx="4871043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indent="12700">
              <a:spcBef>
                <a:spcPts val="100"/>
              </a:spcBef>
              <a:defRPr spc="-10">
                <a:solidFill>
                  <a:srgbClr val="FFFFFF"/>
                </a:solidFill>
              </a:defRPr>
            </a:lvl1pPr>
          </a:lstStyle>
          <a:p>
            <a:pPr marL="0" marR="0" lvl="0" indent="1270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788011-64A6-9925-18B7-EF1585C63A42}"/>
              </a:ext>
            </a:extLst>
          </p:cNvPr>
          <p:cNvSpPr txBox="1"/>
          <p:nvPr/>
        </p:nvSpPr>
        <p:spPr>
          <a:xfrm>
            <a:off x="513708" y="1630537"/>
            <a:ext cx="8694505" cy="37856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Step 5: Model Evaluation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Evaluate using metrics: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Precision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Recall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F1-score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Confusion Matrix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ROC-AUC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Compare all models to select the best-performing one.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Step 6: Interpretation and Insights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Use model-specific techniques like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feature importance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SHAP values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to explain predictions.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Step 7: (Optional) Build a GUI/Web App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Flask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Streamlit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to create an interface where users can input patient data and get predictions.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object 2"/>
          <p:cNvSpPr txBox="1"/>
          <p:nvPr/>
        </p:nvSpPr>
        <p:spPr>
          <a:xfrm>
            <a:off x="276310" y="527441"/>
            <a:ext cx="5477218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indent="12700">
              <a:spcBef>
                <a:spcPts val="100"/>
              </a:spcBef>
              <a:defRPr spc="-10">
                <a:solidFill>
                  <a:srgbClr val="FFFFFF"/>
                </a:solidFill>
              </a:defRPr>
            </a:lvl1pPr>
          </a:lstStyle>
          <a:p>
            <a:pPr marL="0" marR="0" lvl="0" indent="1270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Results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2FC695F-7D97-8FC7-7251-96B933B54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36" y="1485490"/>
            <a:ext cx="108803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Multiple machine learning models were trained and tested on the UCI Heart Disease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Among the models tested,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Random Forest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achieved the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highest accuracy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D755A8-0386-F3D7-A7CE-71FB91022B72}"/>
              </a:ext>
            </a:extLst>
          </p:cNvPr>
          <p:cNvSpPr txBox="1"/>
          <p:nvPr/>
        </p:nvSpPr>
        <p:spPr>
          <a:xfrm>
            <a:off x="184936" y="2685819"/>
            <a:ext cx="8910263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Random Forest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also showed strong interpretability through its feature importance scores, highlighting key predictors like:</a:t>
            </a: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Chest pain type</a:t>
            </a: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Maximum heart rate achieved</a:t>
            </a: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ST depression (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oldpeak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)</a:t>
            </a: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Resting blood pressure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The final model provides a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reliable and interpretable prediction tool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assisting in the early detection of heart disease.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55ECD-1D33-2C8B-AD64-44D032283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B775C8-4FE8-6038-AACE-51E9A86E5601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116476"/>
          <a:ext cx="10972800" cy="365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343670712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4323969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06252803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27958391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326861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049082093"/>
                    </a:ext>
                  </a:extLst>
                </a:gridCol>
              </a:tblGrid>
              <a:tr h="23810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177196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E4218F-1099-73BB-EEC1-888BB0C7FE31}"/>
              </a:ext>
            </a:extLst>
          </p:cNvPr>
          <p:cNvGraphicFramePr>
            <a:graphicFrameLocks noGrp="1"/>
          </p:cNvGraphicFramePr>
          <p:nvPr/>
        </p:nvGraphicFramePr>
        <p:xfrm>
          <a:off x="195209" y="754380"/>
          <a:ext cx="11263901" cy="5451207"/>
        </p:xfrm>
        <a:graphic>
          <a:graphicData uri="http://schemas.openxmlformats.org/drawingml/2006/table">
            <a:tbl>
              <a:tblPr/>
              <a:tblGrid>
                <a:gridCol w="2981207">
                  <a:extLst>
                    <a:ext uri="{9D8B030D-6E8A-4147-A177-3AD203B41FA5}">
                      <a16:colId xmlns:a16="http://schemas.microsoft.com/office/drawing/2014/main" val="2278162185"/>
                    </a:ext>
                  </a:extLst>
                </a:gridCol>
                <a:gridCol w="1210649">
                  <a:extLst>
                    <a:ext uri="{9D8B030D-6E8A-4147-A177-3AD203B41FA5}">
                      <a16:colId xmlns:a16="http://schemas.microsoft.com/office/drawing/2014/main" val="3677084446"/>
                    </a:ext>
                  </a:extLst>
                </a:gridCol>
                <a:gridCol w="1440094">
                  <a:extLst>
                    <a:ext uri="{9D8B030D-6E8A-4147-A177-3AD203B41FA5}">
                      <a16:colId xmlns:a16="http://schemas.microsoft.com/office/drawing/2014/main" val="4045268648"/>
                    </a:ext>
                  </a:extLst>
                </a:gridCol>
                <a:gridCol w="1877317">
                  <a:extLst>
                    <a:ext uri="{9D8B030D-6E8A-4147-A177-3AD203B41FA5}">
                      <a16:colId xmlns:a16="http://schemas.microsoft.com/office/drawing/2014/main" val="3830525518"/>
                    </a:ext>
                  </a:extLst>
                </a:gridCol>
                <a:gridCol w="1877317">
                  <a:extLst>
                    <a:ext uri="{9D8B030D-6E8A-4147-A177-3AD203B41FA5}">
                      <a16:colId xmlns:a16="http://schemas.microsoft.com/office/drawing/2014/main" val="1598482344"/>
                    </a:ext>
                  </a:extLst>
                </a:gridCol>
                <a:gridCol w="1877317">
                  <a:extLst>
                    <a:ext uri="{9D8B030D-6E8A-4147-A177-3AD203B41FA5}">
                      <a16:colId xmlns:a16="http://schemas.microsoft.com/office/drawing/2014/main" val="463579194"/>
                    </a:ext>
                  </a:extLst>
                </a:gridCol>
              </a:tblGrid>
              <a:tr h="838647">
                <a:tc>
                  <a:txBody>
                    <a:bodyPr/>
                    <a:lstStyle/>
                    <a:p>
                      <a:r>
                        <a:rPr lang="en-IN" sz="2000" b="1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ROC-AUC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3964041"/>
                  </a:ext>
                </a:extLst>
              </a:tr>
              <a:tr h="1467633">
                <a:tc>
                  <a:txBody>
                    <a:bodyPr/>
                    <a:lstStyle/>
                    <a:p>
                      <a:r>
                        <a:rPr lang="en-IN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6267668"/>
                  </a:ext>
                </a:extLst>
              </a:tr>
              <a:tr h="838647">
                <a:tc>
                  <a:txBody>
                    <a:bodyPr/>
                    <a:lstStyle/>
                    <a:p>
                      <a:r>
                        <a:rPr lang="en-IN" dirty="0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639929"/>
                  </a:ext>
                </a:extLst>
              </a:tr>
              <a:tr h="838647">
                <a:tc>
                  <a:txBody>
                    <a:bodyPr/>
                    <a:lstStyle/>
                    <a:p>
                      <a:r>
                        <a:rPr lang="en-IN" dirty="0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4385689"/>
                  </a:ext>
                </a:extLst>
              </a:tr>
              <a:tr h="1467633">
                <a:tc>
                  <a:txBody>
                    <a:bodyPr/>
                    <a:lstStyle/>
                    <a:p>
                      <a:r>
                        <a:rPr lang="en-IN" b="1" dirty="0"/>
                        <a:t>Random Forest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89%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90%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88%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89%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92%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675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13271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41BAE7-3709-1B55-E7D7-D509ED16C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70" y="565079"/>
            <a:ext cx="10437860" cy="553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70224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927897-C5C0-F480-9549-8F2DD18F0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36" y="1577339"/>
            <a:ext cx="10037412" cy="428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01976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6220E4-21DA-FACF-1B7E-CA6BB77E6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23" y="1700373"/>
            <a:ext cx="10694006" cy="480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0909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object 2"/>
          <p:cNvSpPr txBox="1"/>
          <p:nvPr/>
        </p:nvSpPr>
        <p:spPr>
          <a:xfrm>
            <a:off x="504631" y="407888"/>
            <a:ext cx="5591369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1270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 spc="-10">
                <a:solidFill>
                  <a:srgbClr val="FFFFFF"/>
                </a:solidFill>
              </a:defRPr>
            </a:pPr>
            <a:r>
              <a:rPr kumimoji="0" sz="32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Comparison</a:t>
            </a:r>
            <a:r>
              <a:rPr kumimoji="0" sz="3200" b="0" i="0" u="none" strike="noStrike" kern="0" cap="none" spc="-4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kumimoji="0" sz="3200" b="0" i="0" u="none" strike="noStrike" kern="0" cap="none" spc="-4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sz="32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existing</a:t>
            </a:r>
            <a:r>
              <a:rPr kumimoji="0" sz="3200" b="0" i="0" u="none" strike="noStrike" kern="0" cap="none" spc="-4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sz="3200" b="0" i="0" u="none" strike="noStrike" kern="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work</a:t>
            </a:r>
          </a:p>
        </p:txBody>
      </p:sp>
      <p:sp>
        <p:nvSpPr>
          <p:cNvPr id="117" name="Rectangle 1"/>
          <p:cNvSpPr txBox="1"/>
          <p:nvPr/>
        </p:nvSpPr>
        <p:spPr>
          <a:xfrm>
            <a:off x="731519" y="2100661"/>
            <a:ext cx="8747762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118" name="Rectangle 3"/>
          <p:cNvSpPr txBox="1"/>
          <p:nvPr/>
        </p:nvSpPr>
        <p:spPr>
          <a:xfrm>
            <a:off x="655319" y="4085819"/>
            <a:ext cx="8747762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latin typeface="Arial"/>
                <a:ea typeface="Arial"/>
                <a:cs typeface="Arial"/>
                <a:sym typeface="Arial"/>
              </a:defRPr>
            </a:pPr>
            <a:endParaRPr kumimoji="0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01F387-34A2-9A67-FACD-4B240C8CD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23" y="1279466"/>
            <a:ext cx="10673137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Existing Studies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(e.g., </a:t>
            </a:r>
            <a:r>
              <a:rPr kumimoji="0" lang="en-US" alt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Gudadhe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et al., 2010; Kumar &amp; Paul, 2016) have used traditional classifiers like Decision Trees, Naïve Bayes, and Logistic Regression, achieving accuracies between </a:t>
            </a: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78% to 86%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Javeed et al. (2019)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used an optimized Random Forest and achieved around </a:t>
            </a: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90% accuracy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, but lacked model interpretability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Many earlier models focused solely on accuracy, </a:t>
            </a: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neglecting interpretability and practical usability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, especially for non-technical healthcare professionals.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In this project: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Random Forest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achieved </a:t>
            </a: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89% accuracy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, comparable to the best-performing existing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SHAP values and feature importance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were used to enhance interpretability.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An optional </a:t>
            </a: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user interface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was considered to increase accessibility in real-world settings.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Overall, the proposed system matches or exceeds the accuracy of existing methods while improving </a:t>
            </a: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usability and explanation of predictions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1A49BB-A3C8-D768-81F4-0F367E4AA252}"/>
              </a:ext>
            </a:extLst>
          </p:cNvPr>
          <p:cNvSpPr txBox="1"/>
          <p:nvPr/>
        </p:nvSpPr>
        <p:spPr>
          <a:xfrm>
            <a:off x="226032" y="1523264"/>
            <a:ext cx="10035688" cy="4154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Conclusion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The project successfully developed a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machine learning-based model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predicting heart disease using the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UCI Heart Disease Dataset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Among various classifiers tested,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Random Forest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performed the best with an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accuracy of 89%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The model's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interpretability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was enhanced using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SHAP values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and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feature importance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, allowing healthcare professionals to better understand the driving factors behind predictions.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The project demonstrated that machine learning can be a valuable tool for early heart disease detection, with the potential to assist in clinical decision-making and improve patient outcomes.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3DD56-9F44-8175-2B84-F91BCF0B3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2332" y="1073905"/>
            <a:ext cx="10164566" cy="452628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Model Enhancement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Explore more advanced models like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Deep Learning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(e.g., Neural Networks) to further improve accuracy and robustness.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Real-Time Deployment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Integrate the model into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real-time prediction system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or mobile application for widespread use in hospitals and clinics.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Data Expansion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Incorporate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additional datasets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more features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(e.g., genetic data, lifestyle factors) to improve prediction accuracy and provide a more holistic view of heart disease risks.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Automated Monitoring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Develop systems for continuous monitoring and prediction using real-time health data (e.g., from wearable devices) to detect potential heart disease indicators earlier.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36801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object 2"/>
          <p:cNvSpPr/>
          <p:nvPr/>
        </p:nvSpPr>
        <p:spPr>
          <a:xfrm>
            <a:off x="460341" y="247573"/>
            <a:ext cx="8970817" cy="10764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68" y="21600"/>
                </a:moveTo>
                <a:lnTo>
                  <a:pt x="432" y="21600"/>
                </a:lnTo>
                <a:lnTo>
                  <a:pt x="317" y="21471"/>
                </a:lnTo>
                <a:lnTo>
                  <a:pt x="214" y="21108"/>
                </a:lnTo>
                <a:lnTo>
                  <a:pt x="127" y="20546"/>
                </a:lnTo>
                <a:lnTo>
                  <a:pt x="59" y="19817"/>
                </a:lnTo>
                <a:lnTo>
                  <a:pt x="15" y="18957"/>
                </a:lnTo>
                <a:lnTo>
                  <a:pt x="0" y="18000"/>
                </a:lnTo>
                <a:lnTo>
                  <a:pt x="0" y="3600"/>
                </a:lnTo>
                <a:lnTo>
                  <a:pt x="15" y="2643"/>
                </a:lnTo>
                <a:lnTo>
                  <a:pt x="59" y="1783"/>
                </a:lnTo>
                <a:lnTo>
                  <a:pt x="127" y="1054"/>
                </a:lnTo>
                <a:lnTo>
                  <a:pt x="214" y="492"/>
                </a:lnTo>
                <a:lnTo>
                  <a:pt x="317" y="129"/>
                </a:lnTo>
                <a:lnTo>
                  <a:pt x="432" y="0"/>
                </a:lnTo>
                <a:lnTo>
                  <a:pt x="21168" y="0"/>
                </a:lnTo>
                <a:lnTo>
                  <a:pt x="21333" y="274"/>
                </a:lnTo>
                <a:lnTo>
                  <a:pt x="21473" y="1054"/>
                </a:lnTo>
                <a:lnTo>
                  <a:pt x="2156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585" y="18957"/>
                </a:lnTo>
                <a:lnTo>
                  <a:pt x="21541" y="19817"/>
                </a:lnTo>
                <a:lnTo>
                  <a:pt x="21473" y="20546"/>
                </a:lnTo>
                <a:lnTo>
                  <a:pt x="21386" y="21108"/>
                </a:lnTo>
                <a:lnTo>
                  <a:pt x="21283" y="21471"/>
                </a:lnTo>
                <a:lnTo>
                  <a:pt x="21168" y="21600"/>
                </a:lnTo>
                <a:close/>
              </a:path>
            </a:pathLst>
          </a:custGeom>
          <a:solidFill>
            <a:srgbClr val="5B9BD4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REFERENCE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3F7448-F61D-1290-2256-368AC085153A}"/>
              </a:ext>
            </a:extLst>
          </p:cNvPr>
          <p:cNvSpPr txBox="1"/>
          <p:nvPr/>
        </p:nvSpPr>
        <p:spPr>
          <a:xfrm>
            <a:off x="100745" y="1568766"/>
            <a:ext cx="8458199" cy="49251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1.World Health Organization . World Health Statistics 2021. World Health Organization; Geneva, Switzerland: 2021. [</a:t>
            </a:r>
            <a:r>
              <a:rPr kumimoji="0" lang="en-IN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  <a:hlinkClick r:id="rId2"/>
              </a:rPr>
              <a:t>Google Scholar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]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 Unicode MS"/>
              <a:cs typeface="Arial Unicode MS"/>
              <a:sym typeface="Calibri"/>
            </a:endParaRPr>
          </a:p>
          <a:p>
            <a:pPr marL="342900" marR="0" lvl="0" indent="-342900" algn="l" defTabSz="914400" rtl="0" eaLnBrk="1" fontAlgn="auto" latinLnBrk="0" hangingPunc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2.Iswisi A.F.A., Karan O., </a:t>
            </a:r>
            <a:r>
              <a:rPr kumimoji="0" lang="en-I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Rahebi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 J. Diagnosis of Multiple Sclerosis Disease in Brain Magnetic Resonance Imaging Based on the Harris Hawks Optimization Algorithm. BioMed Res. Int. 2021;2021:3248834. </a:t>
            </a:r>
            <a:r>
              <a:rPr kumimoji="0" lang="en-I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doi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: 10.1155/2021/3248834. [</a:t>
            </a:r>
            <a:r>
              <a:rPr kumimoji="0" lang="en-IN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  <a:hlinkClick r:id="rId3"/>
              </a:rPr>
              <a:t>DOI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] [</a:t>
            </a:r>
            <a:r>
              <a:rPr kumimoji="0" lang="en-IN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  <a:hlinkClick r:id="rId4"/>
              </a:rPr>
              <a:t>PMC free article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] [</a:t>
            </a:r>
            <a:r>
              <a:rPr kumimoji="0" lang="en-IN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  <a:hlinkClick r:id="rId5"/>
              </a:rPr>
              <a:t>PubMed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] [</a:t>
            </a:r>
            <a:r>
              <a:rPr kumimoji="0" lang="en-IN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  <a:hlinkClick r:id="rId6"/>
              </a:rPr>
              <a:t>Google Scholar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] [</a:t>
            </a:r>
            <a:r>
              <a:rPr kumimoji="0" lang="en-IN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  <a:hlinkClick r:id="rId7"/>
              </a:rPr>
              <a:t>Retracted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]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 Unicode MS"/>
              <a:cs typeface="Arial Unicode MS"/>
              <a:sym typeface="Calibri"/>
            </a:endParaRPr>
          </a:p>
          <a:p>
            <a:pPr marL="342900" marR="0" lvl="0" indent="-342900" algn="l" defTabSz="914400" rtl="0" eaLnBrk="1" fontAlgn="auto" latinLnBrk="0" hangingPunc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3.Al-Safi H., </a:t>
            </a:r>
            <a:r>
              <a:rPr kumimoji="0" lang="en-I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Munilla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 J., </a:t>
            </a:r>
            <a:r>
              <a:rPr kumimoji="0" lang="en-I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Rahebi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 J. Harris Hawks Optimization (HHO) Algorithm based on Artificial Neural Network for Heart Disease Diagnosis; Proceedings of the 2021 IEEE International Conference on Mobile Networks and Wireless Communications (ICMNWC); Tumkur, India. 3–4 December 2021; pp. 1–5. [</a:t>
            </a:r>
            <a:r>
              <a:rPr kumimoji="0" lang="en-IN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  <a:hlinkClick r:id="rId8"/>
              </a:rPr>
              <a:t>Google Scholar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]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 Unicode MS"/>
              <a:cs typeface="Arial Unicode M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object 2"/>
          <p:cNvSpPr txBox="1">
            <a:spLocks noGrp="1"/>
          </p:cNvSpPr>
          <p:nvPr>
            <p:ph type="title"/>
          </p:nvPr>
        </p:nvSpPr>
        <p:spPr>
          <a:xfrm>
            <a:off x="3858657" y="1679840"/>
            <a:ext cx="3907792" cy="2951482"/>
          </a:xfrm>
          <a:prstGeom prst="rect">
            <a:avLst/>
          </a:prstGeom>
        </p:spPr>
        <p:txBody>
          <a:bodyPr/>
          <a:lstStyle/>
          <a:p>
            <a:pPr marL="845185" marR="5080" indent="-833120">
              <a:spcBef>
                <a:spcPts val="100"/>
              </a:spcBef>
              <a:defRPr sz="9600" spc="-700">
                <a:solidFill>
                  <a:srgbClr val="71A1D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THANK </a:t>
            </a:r>
            <a:r>
              <a:rPr spc="-1500"/>
              <a:t>Y</a:t>
            </a:r>
            <a:r>
              <a:rPr spc="-900"/>
              <a:t>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1335</Words>
  <Application>Microsoft Office PowerPoint</Application>
  <PresentationFormat>Widescreen</PresentationFormat>
  <Paragraphs>123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Helvetica</vt:lpstr>
      <vt:lpstr>Helvetica Neue</vt:lpstr>
      <vt:lpstr>Symbol</vt:lpstr>
      <vt:lpstr>Times New Roman</vt:lpstr>
      <vt:lpstr>Office Theme</vt:lpstr>
      <vt:lpstr>1_Office Theme</vt:lpstr>
      <vt:lpstr>PowerPoint Presentation</vt:lpstr>
      <vt:lpstr>Introduction</vt:lpstr>
      <vt:lpstr>Literature Survey</vt:lpstr>
      <vt:lpstr>Literature Survey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sivakumar thangamani</dc:creator>
  <cp:lastModifiedBy>sivakumar thangamani</cp:lastModifiedBy>
  <cp:revision>4</cp:revision>
  <dcterms:created xsi:type="dcterms:W3CDTF">2025-05-11T19:59:51Z</dcterms:created>
  <dcterms:modified xsi:type="dcterms:W3CDTF">2025-05-11T20:02:22Z</dcterms:modified>
</cp:coreProperties>
</file>