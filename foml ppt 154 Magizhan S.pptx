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72" r:id="rId14"/>
    <p:sldId id="273" r:id="rId15"/>
    <p:sldId id="274" r:id="rId16"/>
    <p:sldId id="266" r:id="rId17"/>
    <p:sldId id="267" r:id="rId18"/>
    <p:sldId id="271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422A8-F851-0B06-9E8A-314B0EF5A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93F0A-2D5A-9F44-A6FD-1D8141E21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8189B-5571-6A72-DBAF-2F647FE4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20A9A-BD3D-49FE-117A-1A341011C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C1307-0761-CC6C-AC79-A160515C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4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B1A9-C5C8-D31D-E9E3-F19A34CF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76128-C242-493E-9A0A-647CEE4CD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F7B8-58B1-C764-3B38-333996A0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A559E-22BA-01BF-7C30-1451E486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D21E9-45E7-3258-8914-1B7D069E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4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E9BF-92B6-B618-DB32-62A76FC3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0BFCC-AC87-DB38-BD11-58095B635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A8F97-4376-75AF-535B-FB3254B1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BC0C8-F419-35F4-7453-7348D02E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A217F-03AF-9602-D69E-2EE99D84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8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D8B3-8557-1066-F579-A3DD201C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987F-7509-BBE1-4DF5-6E789C1ED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8D4C9-BE47-6280-0F80-D76F26CDB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DF425-8A76-A642-2C36-36E90789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9ED43-419A-B258-27B5-3D80A9F1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23866-9CF8-7612-952C-66822089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3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4CF1-1A48-A709-8EEA-AF6B7F5A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CF164-868C-23B8-9779-794BE55EA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0A2A1-220F-CC87-E63D-A743BF408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74F2A0-44CF-F606-6F0D-FFA78FDF1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10DCB-CE37-91AE-9A9A-F2A01AD54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4476D-D4BB-CFB5-A7AA-993B5056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F148A-42D9-2160-3CCD-305AC7FE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424AE-B531-D0EB-1E10-76B02DD2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0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13CB-07F9-BDD8-2390-A6ABBD32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2A8B-5979-F30C-AA2B-31594F0F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9B615-B57B-5AC5-9D89-93972797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BA3E1-A95D-FA54-00AC-D9B1E0A0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1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23604-DDB3-EE0E-17BA-79FF7D14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6B6F9-6144-73BF-B100-4EFDD656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51655-B715-E91E-A155-7147E04D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8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7996-19DC-21DB-4A5A-4C2F484D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CB4B-5AF5-03F6-7420-F6C149B92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43296-940A-28D2-2080-21AD16E69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966B4-656E-B0A3-8858-1FE1EC31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0F1AA-038C-78E1-6E99-89C068C0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12E00-4EA8-F259-1CA0-83101143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2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AA44-3620-F4FA-975B-F25EC81B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4F0E9-EEFC-7087-D58F-AE45E16EF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33083-1AA1-FAD5-8A58-D0469FBD8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4A839-1DAF-7392-5531-B833759E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26591-2649-8723-2217-00129BAA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6A71B-1AD8-5734-386F-86647CC4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48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4A2D-C0EA-43DC-C002-51ECE134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1B4B7-6C1C-A064-9F63-2EF91ABDE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DE9CE-12B7-FB99-4364-47E6A6C6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98F8-06FC-D50E-BAC1-268E22DB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EFC6A-5F2B-8540-3687-F07FD34D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8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22959-5F95-F7B3-D409-974020F93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2638EC-A577-9CA7-8650-CEE07644B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A32DB-4B35-5388-D31F-4B695353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77F27-6DC0-FE2C-54DC-C9626121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B95DD-0A2C-3227-D127-8E81077B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99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597773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577339"/>
            <a:ext cx="10972800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56858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113258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g object 16"/>
          <p:cNvSpPr/>
          <p:nvPr/>
        </p:nvSpPr>
        <p:spPr>
          <a:xfrm>
            <a:off x="766948" y="224858"/>
            <a:ext cx="8780812" cy="1009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86" y="21600"/>
                </a:moveTo>
                <a:lnTo>
                  <a:pt x="414" y="21600"/>
                </a:lnTo>
                <a:lnTo>
                  <a:pt x="304" y="21471"/>
                </a:lnTo>
                <a:lnTo>
                  <a:pt x="205" y="21108"/>
                </a:lnTo>
                <a:lnTo>
                  <a:pt x="121" y="20546"/>
                </a:lnTo>
                <a:lnTo>
                  <a:pt x="57" y="19817"/>
                </a:lnTo>
                <a:lnTo>
                  <a:pt x="15" y="18957"/>
                </a:lnTo>
                <a:lnTo>
                  <a:pt x="0" y="18000"/>
                </a:lnTo>
                <a:lnTo>
                  <a:pt x="0" y="3600"/>
                </a:lnTo>
                <a:lnTo>
                  <a:pt x="15" y="2643"/>
                </a:lnTo>
                <a:lnTo>
                  <a:pt x="57" y="1783"/>
                </a:lnTo>
                <a:lnTo>
                  <a:pt x="121" y="1054"/>
                </a:lnTo>
                <a:lnTo>
                  <a:pt x="205" y="492"/>
                </a:lnTo>
                <a:lnTo>
                  <a:pt x="304" y="129"/>
                </a:lnTo>
                <a:lnTo>
                  <a:pt x="414" y="0"/>
                </a:lnTo>
                <a:lnTo>
                  <a:pt x="21186" y="0"/>
                </a:lnTo>
                <a:lnTo>
                  <a:pt x="21344" y="274"/>
                </a:lnTo>
                <a:lnTo>
                  <a:pt x="21479" y="1054"/>
                </a:lnTo>
                <a:lnTo>
                  <a:pt x="21568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8957"/>
                </a:lnTo>
                <a:lnTo>
                  <a:pt x="21543" y="19817"/>
                </a:lnTo>
                <a:lnTo>
                  <a:pt x="21479" y="20546"/>
                </a:lnTo>
                <a:lnTo>
                  <a:pt x="21395" y="21108"/>
                </a:lnTo>
                <a:lnTo>
                  <a:pt x="21296" y="21471"/>
                </a:lnTo>
                <a:lnTo>
                  <a:pt x="21186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585814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955936" y="356407"/>
            <a:ext cx="3711576" cy="10502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21924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459967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593827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47F7-2026-BDEE-368E-205AE6DF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AA901-858C-E5EC-30BF-315BE8FA5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5F03A-0F1B-AC47-DCEE-D24E9D60E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025A-AF98-448C-8589-5E396FDF31BB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F35B-008B-4CBC-73F6-8A7941A81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5AE88-9E5D-7079-29B0-C798D89C8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1F99C-D414-44E4-B3E9-16452288FD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8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160316" y="245972"/>
            <a:ext cx="10515601" cy="880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99" y="21600"/>
                </a:moveTo>
                <a:lnTo>
                  <a:pt x="301" y="21600"/>
                </a:lnTo>
                <a:lnTo>
                  <a:pt x="206" y="21416"/>
                </a:lnTo>
                <a:lnTo>
                  <a:pt x="123" y="20905"/>
                </a:lnTo>
                <a:lnTo>
                  <a:pt x="58" y="20126"/>
                </a:lnTo>
                <a:lnTo>
                  <a:pt x="15" y="19138"/>
                </a:lnTo>
                <a:lnTo>
                  <a:pt x="0" y="18000"/>
                </a:lnTo>
                <a:lnTo>
                  <a:pt x="0" y="3600"/>
                </a:lnTo>
                <a:lnTo>
                  <a:pt x="15" y="2462"/>
                </a:lnTo>
                <a:lnTo>
                  <a:pt x="58" y="1474"/>
                </a:lnTo>
                <a:lnTo>
                  <a:pt x="123" y="695"/>
                </a:lnTo>
                <a:lnTo>
                  <a:pt x="206" y="184"/>
                </a:lnTo>
                <a:lnTo>
                  <a:pt x="301" y="0"/>
                </a:lnTo>
                <a:lnTo>
                  <a:pt x="21299" y="0"/>
                </a:lnTo>
                <a:lnTo>
                  <a:pt x="21414" y="274"/>
                </a:lnTo>
                <a:lnTo>
                  <a:pt x="21512" y="1054"/>
                </a:lnTo>
                <a:lnTo>
                  <a:pt x="2157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9138"/>
                </a:lnTo>
                <a:lnTo>
                  <a:pt x="21542" y="20126"/>
                </a:lnTo>
                <a:lnTo>
                  <a:pt x="21477" y="20905"/>
                </a:lnTo>
                <a:lnTo>
                  <a:pt x="21394" y="21416"/>
                </a:lnTo>
                <a:lnTo>
                  <a:pt x="21299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5427" y="6377940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50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.google.com/scholar_lookup?journal=Proceedings%20of%20the%202021%20IEEE%20International%20Conference%20on%20Mobile%20Networks%20and%20Wireless%20Communications%20(ICMNWC)&amp;title=Harris%20Hawks%20Optimization%20(HHO)%20Algorithm%20based%20on%20Artificial%20Neural%20Network%20for%20Heart%20Disease%20Diagnosis&amp;author=H.%20Al-Safi&amp;author=J.%20Munilla&amp;author=J.%20Rahebi&amp;pages=1-5&amp;" TargetMode="External"/><Relationship Id="rId3" Type="http://schemas.openxmlformats.org/officeDocument/2006/relationships/hyperlink" Target="https://doi.org/10.1155/2021/3248834" TargetMode="External"/><Relationship Id="rId7" Type="http://schemas.openxmlformats.org/officeDocument/2006/relationships/hyperlink" Target="https://pmc.ncbi.nlm.nih.gov/articles/PMC10973228/" TargetMode="External"/><Relationship Id="rId2" Type="http://schemas.openxmlformats.org/officeDocument/2006/relationships/hyperlink" Target="https://scholar.google.com/scholar_lookup?title=World%20Health%20Statistics%202021&amp;publication_year=2021&amp;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scholar.google.com/scholar_lookup?journal=BioMed%20Res.%20Int.&amp;title=Diagnosis%20of%20Multiple%20Sclerosis%20Disease%20in%20Brain%20Magnetic%20Resonance%20Imaging%20Based%20on%20the%20Harris%20Hawks%20Optimization%20Algorithm&amp;author=A.F.A.%20Iswisi&amp;author=O.%20Karan&amp;author=J.%20Rahebi&amp;volume=2021&amp;publication_year=2021&amp;pages=3248834&amp;pmid=34988224&amp;doi=10.1155/2021/3248834&amp;" TargetMode="External"/><Relationship Id="rId5" Type="http://schemas.openxmlformats.org/officeDocument/2006/relationships/hyperlink" Target="https://pubmed.ncbi.nlm.nih.gov/34988224/" TargetMode="External"/><Relationship Id="rId4" Type="http://schemas.openxmlformats.org/officeDocument/2006/relationships/hyperlink" Target="https://pmc.ncbi.nlm.nih.gov/articles/PMC8723867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2"/>
          <p:cNvSpPr/>
          <p:nvPr/>
        </p:nvSpPr>
        <p:spPr>
          <a:xfrm>
            <a:off x="1227762" y="1322028"/>
            <a:ext cx="9144001" cy="121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21" y="21600"/>
                </a:moveTo>
                <a:lnTo>
                  <a:pt x="479" y="21600"/>
                </a:lnTo>
                <a:lnTo>
                  <a:pt x="369" y="21505"/>
                </a:lnTo>
                <a:lnTo>
                  <a:pt x="268" y="21234"/>
                </a:lnTo>
                <a:lnTo>
                  <a:pt x="179" y="20809"/>
                </a:lnTo>
                <a:lnTo>
                  <a:pt x="105" y="20252"/>
                </a:lnTo>
                <a:lnTo>
                  <a:pt x="49" y="19583"/>
                </a:lnTo>
                <a:lnTo>
                  <a:pt x="13" y="18825"/>
                </a:lnTo>
                <a:lnTo>
                  <a:pt x="0" y="18000"/>
                </a:lnTo>
                <a:lnTo>
                  <a:pt x="0" y="3600"/>
                </a:lnTo>
                <a:lnTo>
                  <a:pt x="13" y="2775"/>
                </a:lnTo>
                <a:lnTo>
                  <a:pt x="49" y="2017"/>
                </a:lnTo>
                <a:lnTo>
                  <a:pt x="105" y="1348"/>
                </a:lnTo>
                <a:lnTo>
                  <a:pt x="179" y="791"/>
                </a:lnTo>
                <a:lnTo>
                  <a:pt x="268" y="366"/>
                </a:lnTo>
                <a:lnTo>
                  <a:pt x="369" y="95"/>
                </a:lnTo>
                <a:lnTo>
                  <a:pt x="479" y="0"/>
                </a:lnTo>
                <a:lnTo>
                  <a:pt x="21121" y="0"/>
                </a:lnTo>
                <a:lnTo>
                  <a:pt x="21215" y="70"/>
                </a:lnTo>
                <a:lnTo>
                  <a:pt x="21304" y="274"/>
                </a:lnTo>
                <a:lnTo>
                  <a:pt x="21387" y="605"/>
                </a:lnTo>
                <a:lnTo>
                  <a:pt x="21460" y="1054"/>
                </a:lnTo>
                <a:lnTo>
                  <a:pt x="21520" y="1603"/>
                </a:lnTo>
                <a:lnTo>
                  <a:pt x="21564" y="2222"/>
                </a:lnTo>
                <a:lnTo>
                  <a:pt x="21591" y="2894"/>
                </a:lnTo>
                <a:lnTo>
                  <a:pt x="21600" y="3600"/>
                </a:lnTo>
                <a:lnTo>
                  <a:pt x="21600" y="18000"/>
                </a:lnTo>
                <a:lnTo>
                  <a:pt x="21587" y="18825"/>
                </a:lnTo>
                <a:lnTo>
                  <a:pt x="21551" y="19583"/>
                </a:lnTo>
                <a:lnTo>
                  <a:pt x="21495" y="20252"/>
                </a:lnTo>
                <a:lnTo>
                  <a:pt x="21421" y="20809"/>
                </a:lnTo>
                <a:lnTo>
                  <a:pt x="21332" y="21234"/>
                </a:lnTo>
                <a:lnTo>
                  <a:pt x="21231" y="21505"/>
                </a:lnTo>
                <a:lnTo>
                  <a:pt x="21121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     HEART DISEASE PREDICTOR</a:t>
            </a:r>
            <a:endParaRPr kumimoji="0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29522-4054-130D-03B5-5CF3ADAF0BD0}"/>
              </a:ext>
            </a:extLst>
          </p:cNvPr>
          <p:cNvSpPr txBox="1"/>
          <p:nvPr/>
        </p:nvSpPr>
        <p:spPr>
          <a:xfrm>
            <a:off x="6125967" y="3524304"/>
            <a:ext cx="6097712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70C0"/>
                </a:solidFill>
                <a:latin typeface="Gill Sans MT" panose="020B0502020104020203" pitchFamily="34" charset="0"/>
              </a:rPr>
              <a:t>Guide by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</a:t>
            </a:r>
            <a:r>
              <a:rPr lang="en-US" sz="1800" b="1" dirty="0" err="1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Dr.V.Auxilla</a:t>
            </a:r>
            <a:r>
              <a:rPr lang="en-US" sz="18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Osvin Nancy.,M.Tech.,</a:t>
            </a:r>
            <a:r>
              <a:rPr lang="en-US" sz="1800" b="1" dirty="0" err="1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Ph.D</a:t>
            </a:r>
            <a:r>
              <a:rPr lang="en-US" sz="18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.,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Done by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-MAGIZHAN SIVAKUMAR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-CSE-B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-Rajalakshmi Engineering College </a:t>
            </a: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endParaRPr lang="en-IN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bject 2"/>
          <p:cNvSpPr/>
          <p:nvPr/>
        </p:nvSpPr>
        <p:spPr>
          <a:xfrm>
            <a:off x="838199" y="373466"/>
            <a:ext cx="9315203" cy="1031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01" y="21600"/>
                </a:moveTo>
                <a:lnTo>
                  <a:pt x="399" y="21600"/>
                </a:lnTo>
                <a:lnTo>
                  <a:pt x="293" y="21471"/>
                </a:lnTo>
                <a:lnTo>
                  <a:pt x="197" y="21109"/>
                </a:lnTo>
                <a:lnTo>
                  <a:pt x="117" y="20546"/>
                </a:lnTo>
                <a:lnTo>
                  <a:pt x="54" y="19817"/>
                </a:lnTo>
                <a:lnTo>
                  <a:pt x="14" y="18957"/>
                </a:lnTo>
                <a:lnTo>
                  <a:pt x="0" y="18000"/>
                </a:lnTo>
                <a:lnTo>
                  <a:pt x="0" y="3600"/>
                </a:lnTo>
                <a:lnTo>
                  <a:pt x="14" y="2643"/>
                </a:lnTo>
                <a:lnTo>
                  <a:pt x="54" y="1783"/>
                </a:lnTo>
                <a:lnTo>
                  <a:pt x="117" y="1054"/>
                </a:lnTo>
                <a:lnTo>
                  <a:pt x="197" y="491"/>
                </a:lnTo>
                <a:lnTo>
                  <a:pt x="293" y="129"/>
                </a:lnTo>
                <a:lnTo>
                  <a:pt x="399" y="0"/>
                </a:lnTo>
                <a:lnTo>
                  <a:pt x="21201" y="0"/>
                </a:lnTo>
                <a:lnTo>
                  <a:pt x="21354" y="274"/>
                </a:lnTo>
                <a:lnTo>
                  <a:pt x="21483" y="1054"/>
                </a:lnTo>
                <a:lnTo>
                  <a:pt x="21570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6" y="18957"/>
                </a:lnTo>
                <a:lnTo>
                  <a:pt x="21546" y="19817"/>
                </a:lnTo>
                <a:lnTo>
                  <a:pt x="21483" y="20546"/>
                </a:lnTo>
                <a:lnTo>
                  <a:pt x="21403" y="21109"/>
                </a:lnTo>
                <a:lnTo>
                  <a:pt x="21307" y="21471"/>
                </a:lnTo>
                <a:lnTo>
                  <a:pt x="21201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object 3"/>
          <p:cNvSpPr txBox="1">
            <a:spLocks noGrp="1"/>
          </p:cNvSpPr>
          <p:nvPr>
            <p:ph type="title"/>
          </p:nvPr>
        </p:nvSpPr>
        <p:spPr>
          <a:xfrm>
            <a:off x="1037771" y="507280"/>
            <a:ext cx="8989807" cy="680722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z="4300" spc="-100"/>
            </a:lvl1pPr>
          </a:lstStyle>
          <a:p>
            <a:r>
              <a:rPr lang="en-IN" dirty="0"/>
              <a:t>Introduction</a:t>
            </a:r>
          </a:p>
        </p:txBody>
      </p:sp>
      <p:sp>
        <p:nvSpPr>
          <p:cNvPr id="80" name="TextBox 4"/>
          <p:cNvSpPr txBox="1"/>
          <p:nvPr/>
        </p:nvSpPr>
        <p:spPr>
          <a:xfrm>
            <a:off x="960119" y="1905000"/>
            <a:ext cx="669036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74231-AE5D-8DA5-D6F8-2F14593F6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14" y="1698116"/>
            <a:ext cx="1098859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Heart disease prediction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is essential for early diagnosis, timely intervention, and reducing death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Traditional diagnostic approaches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may not effectively capture the complex relationships among multiple risk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Machine learning techniques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offer a data-driven approach by analyzing historical medical data to uncover hidden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This project uses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Random Forest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and other classification algorithms to predict the presence of heart disease.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The goal is to improve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prediction accuracy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model interpretability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and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practical usability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in clinical healthcare settings.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2"/>
          <p:cNvSpPr txBox="1">
            <a:spLocks noGrp="1"/>
          </p:cNvSpPr>
          <p:nvPr>
            <p:ph type="title"/>
          </p:nvPr>
        </p:nvSpPr>
        <p:spPr>
          <a:xfrm>
            <a:off x="955936" y="356408"/>
            <a:ext cx="3711576" cy="105021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4200" spc="-100"/>
            </a:pPr>
            <a:r>
              <a:rPr dirty="0"/>
              <a:t>Literature</a:t>
            </a:r>
            <a:r>
              <a:rPr spc="-200" dirty="0"/>
              <a:t> </a:t>
            </a:r>
            <a:r>
              <a:rPr dirty="0"/>
              <a:t>Survey</a:t>
            </a:r>
          </a:p>
        </p:txBody>
      </p:sp>
      <p:sp>
        <p:nvSpPr>
          <p:cNvPr id="84" name="Rectangle 1"/>
          <p:cNvSpPr txBox="1"/>
          <p:nvPr/>
        </p:nvSpPr>
        <p:spPr>
          <a:xfrm>
            <a:off x="1001656" y="3075294"/>
            <a:ext cx="794422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just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3B2B3-CE0A-9DF0-2457-E84A20736788}"/>
              </a:ext>
            </a:extLst>
          </p:cNvPr>
          <p:cNvSpPr txBox="1"/>
          <p:nvPr/>
        </p:nvSpPr>
        <p:spPr>
          <a:xfrm>
            <a:off x="754942" y="2105798"/>
            <a:ext cx="8437651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Kumar &amp; Paul (2016)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compared ML algorithms and found SVM gave the best results (~86%).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Javeed et al. (2019)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proposed an optimized Random Forest model, achieving over 90% accuracy.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Most existing models focus on accuracy but lack clinical interpretability and real-world usability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2"/>
          <p:cNvSpPr txBox="1">
            <a:spLocks noGrp="1"/>
          </p:cNvSpPr>
          <p:nvPr>
            <p:ph type="title"/>
          </p:nvPr>
        </p:nvSpPr>
        <p:spPr>
          <a:xfrm>
            <a:off x="955936" y="356408"/>
            <a:ext cx="3711576" cy="105021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4200" spc="-100"/>
            </a:pPr>
            <a:r>
              <a:t>Literature</a:t>
            </a:r>
            <a:r>
              <a:rPr spc="-200"/>
              <a:t> </a:t>
            </a:r>
            <a:r>
              <a:t>Survey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64FCE-0310-0CC4-F782-4D793050F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21" y="1723677"/>
            <a:ext cx="103250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The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Framingham Heart Study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identified major risk factors for heart disease but relied on traditional statistical methods with limited accuracy for complex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Studies using the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UCI Heart Disease Dataset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applied machine learning models like Decision Trees, SVM, and Neural Networks, showing improved prediction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Gudadhe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et al. (2010)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found Decision Trees to be effective, with around 81%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Soni et al. (2011)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Calibri"/>
              </a:rPr>
              <a:t> used a hybrid clustering-classification approach, showing better accuracy than single models.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object 2"/>
          <p:cNvSpPr/>
          <p:nvPr/>
        </p:nvSpPr>
        <p:spPr>
          <a:xfrm>
            <a:off x="838200" y="368317"/>
            <a:ext cx="8795286" cy="1050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21600"/>
                </a:moveTo>
                <a:lnTo>
                  <a:pt x="540" y="21600"/>
                </a:lnTo>
                <a:lnTo>
                  <a:pt x="431" y="21527"/>
                </a:lnTo>
                <a:lnTo>
                  <a:pt x="330" y="21317"/>
                </a:lnTo>
                <a:lnTo>
                  <a:pt x="238" y="20985"/>
                </a:lnTo>
                <a:lnTo>
                  <a:pt x="158" y="20546"/>
                </a:lnTo>
                <a:lnTo>
                  <a:pt x="92" y="20013"/>
                </a:lnTo>
                <a:lnTo>
                  <a:pt x="42" y="19401"/>
                </a:lnTo>
                <a:lnTo>
                  <a:pt x="11" y="18725"/>
                </a:lnTo>
                <a:lnTo>
                  <a:pt x="0" y="18000"/>
                </a:lnTo>
                <a:lnTo>
                  <a:pt x="0" y="3600"/>
                </a:lnTo>
                <a:lnTo>
                  <a:pt x="11" y="2875"/>
                </a:lnTo>
                <a:lnTo>
                  <a:pt x="42" y="2199"/>
                </a:lnTo>
                <a:lnTo>
                  <a:pt x="92" y="1587"/>
                </a:lnTo>
                <a:lnTo>
                  <a:pt x="158" y="1054"/>
                </a:lnTo>
                <a:lnTo>
                  <a:pt x="238" y="615"/>
                </a:lnTo>
                <a:lnTo>
                  <a:pt x="330" y="283"/>
                </a:lnTo>
                <a:lnTo>
                  <a:pt x="431" y="73"/>
                </a:lnTo>
                <a:lnTo>
                  <a:pt x="540" y="0"/>
                </a:lnTo>
                <a:lnTo>
                  <a:pt x="21060" y="0"/>
                </a:lnTo>
                <a:lnTo>
                  <a:pt x="21166" y="70"/>
                </a:lnTo>
                <a:lnTo>
                  <a:pt x="21267" y="274"/>
                </a:lnTo>
                <a:lnTo>
                  <a:pt x="21360" y="605"/>
                </a:lnTo>
                <a:lnTo>
                  <a:pt x="21442" y="1054"/>
                </a:lnTo>
                <a:lnTo>
                  <a:pt x="21509" y="1603"/>
                </a:lnTo>
                <a:lnTo>
                  <a:pt x="21559" y="2222"/>
                </a:lnTo>
                <a:lnTo>
                  <a:pt x="21590" y="2894"/>
                </a:lnTo>
                <a:lnTo>
                  <a:pt x="21600" y="3600"/>
                </a:lnTo>
                <a:lnTo>
                  <a:pt x="21600" y="18000"/>
                </a:lnTo>
                <a:lnTo>
                  <a:pt x="21589" y="18725"/>
                </a:lnTo>
                <a:lnTo>
                  <a:pt x="21558" y="19401"/>
                </a:lnTo>
                <a:lnTo>
                  <a:pt x="21508" y="20013"/>
                </a:lnTo>
                <a:lnTo>
                  <a:pt x="21442" y="20546"/>
                </a:lnTo>
                <a:lnTo>
                  <a:pt x="21362" y="20985"/>
                </a:lnTo>
                <a:lnTo>
                  <a:pt x="21270" y="21317"/>
                </a:lnTo>
                <a:lnTo>
                  <a:pt x="21169" y="21527"/>
                </a:lnTo>
                <a:lnTo>
                  <a:pt x="21060" y="21600"/>
                </a:lnTo>
                <a:close/>
              </a:path>
            </a:pathLst>
          </a:custGeom>
          <a:solidFill>
            <a:srgbClr val="59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object 3"/>
          <p:cNvSpPr txBox="1">
            <a:spLocks noGrp="1"/>
          </p:cNvSpPr>
          <p:nvPr>
            <p:ph type="title"/>
          </p:nvPr>
        </p:nvSpPr>
        <p:spPr>
          <a:xfrm>
            <a:off x="955936" y="356408"/>
            <a:ext cx="3711576" cy="1050212"/>
          </a:xfrm>
          <a:prstGeom prst="rect">
            <a:avLst/>
          </a:prstGeom>
        </p:spPr>
        <p:txBody>
          <a:bodyPr/>
          <a:lstStyle>
            <a:lvl1pPr indent="156210">
              <a:spcBef>
                <a:spcPts val="100"/>
              </a:spcBef>
              <a:defRPr spc="-99"/>
            </a:lvl1pPr>
          </a:lstStyle>
          <a:p>
            <a:r>
              <a:t>Objectives</a:t>
            </a:r>
          </a:p>
        </p:txBody>
      </p:sp>
      <p:sp>
        <p:nvSpPr>
          <p:cNvPr id="91" name="Rectangle 1"/>
          <p:cNvSpPr txBox="1"/>
          <p:nvPr/>
        </p:nvSpPr>
        <p:spPr>
          <a:xfrm>
            <a:off x="838200" y="1595021"/>
            <a:ext cx="8858624" cy="5262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develop a machine learning-based model for accurately predicting the presence of heart disease using medical data.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compare the performance of different classifiers such as Random Forest, Support Vector Machine, and Logistic Regression.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identify and analyze the most significant features (risk factors) contributing to heart disease.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improve model interpretability, making predictions more understandable for healthcare professionals.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build a user-friendly interface or tool that can assist in early diagnosis and support clinical decision-making.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To evaluate the model using appropriate metrics such as accuracy, precision, recall, and F1-score for reliable assessment.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object 2"/>
          <p:cNvSpPr/>
          <p:nvPr/>
        </p:nvSpPr>
        <p:spPr>
          <a:xfrm>
            <a:off x="271530" y="365124"/>
            <a:ext cx="10569039" cy="1268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68" y="21600"/>
                </a:moveTo>
                <a:lnTo>
                  <a:pt x="432" y="21600"/>
                </a:lnTo>
                <a:lnTo>
                  <a:pt x="333" y="21505"/>
                </a:lnTo>
                <a:lnTo>
                  <a:pt x="242" y="21234"/>
                </a:lnTo>
                <a:lnTo>
                  <a:pt x="162" y="20809"/>
                </a:lnTo>
                <a:lnTo>
                  <a:pt x="95" y="20252"/>
                </a:lnTo>
                <a:lnTo>
                  <a:pt x="44" y="19583"/>
                </a:lnTo>
                <a:lnTo>
                  <a:pt x="11" y="18825"/>
                </a:lnTo>
                <a:lnTo>
                  <a:pt x="0" y="18000"/>
                </a:lnTo>
                <a:lnTo>
                  <a:pt x="0" y="3600"/>
                </a:lnTo>
                <a:lnTo>
                  <a:pt x="11" y="2775"/>
                </a:lnTo>
                <a:lnTo>
                  <a:pt x="44" y="2017"/>
                </a:lnTo>
                <a:lnTo>
                  <a:pt x="95" y="1348"/>
                </a:lnTo>
                <a:lnTo>
                  <a:pt x="162" y="791"/>
                </a:lnTo>
                <a:lnTo>
                  <a:pt x="242" y="366"/>
                </a:lnTo>
                <a:lnTo>
                  <a:pt x="333" y="95"/>
                </a:lnTo>
                <a:lnTo>
                  <a:pt x="432" y="0"/>
                </a:lnTo>
                <a:lnTo>
                  <a:pt x="21168" y="0"/>
                </a:lnTo>
                <a:lnTo>
                  <a:pt x="21253" y="70"/>
                </a:lnTo>
                <a:lnTo>
                  <a:pt x="21333" y="274"/>
                </a:lnTo>
                <a:lnTo>
                  <a:pt x="21408" y="605"/>
                </a:lnTo>
                <a:lnTo>
                  <a:pt x="21473" y="1054"/>
                </a:lnTo>
                <a:lnTo>
                  <a:pt x="21527" y="1603"/>
                </a:lnTo>
                <a:lnTo>
                  <a:pt x="21567" y="2222"/>
                </a:lnTo>
                <a:lnTo>
                  <a:pt x="21592" y="2894"/>
                </a:lnTo>
                <a:lnTo>
                  <a:pt x="21600" y="3600"/>
                </a:lnTo>
                <a:lnTo>
                  <a:pt x="21600" y="18000"/>
                </a:lnTo>
                <a:lnTo>
                  <a:pt x="21589" y="18825"/>
                </a:lnTo>
                <a:lnTo>
                  <a:pt x="21556" y="19583"/>
                </a:lnTo>
                <a:lnTo>
                  <a:pt x="21505" y="20252"/>
                </a:lnTo>
                <a:lnTo>
                  <a:pt x="21438" y="20809"/>
                </a:lnTo>
                <a:lnTo>
                  <a:pt x="21358" y="21234"/>
                </a:lnTo>
                <a:lnTo>
                  <a:pt x="21267" y="21505"/>
                </a:lnTo>
                <a:lnTo>
                  <a:pt x="21168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object 3"/>
          <p:cNvSpPr txBox="1"/>
          <p:nvPr/>
        </p:nvSpPr>
        <p:spPr>
          <a:xfrm>
            <a:off x="396195" y="840619"/>
            <a:ext cx="1885951" cy="67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pc="-10">
                <a:solidFill>
                  <a:srgbClr val="FFFFFF"/>
                </a:solidFill>
              </a:defRPr>
            </a:pPr>
            <a:endParaRPr kumimoji="0" sz="4400" b="0" i="0" u="none" strike="noStrike" kern="0" cap="none" spc="-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object 4" descr="objec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5294" y="0"/>
            <a:ext cx="1456706" cy="525031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traight Connector 6"/>
          <p:cNvSpPr/>
          <p:nvPr/>
        </p:nvSpPr>
        <p:spPr>
          <a:xfrm>
            <a:off x="4038600" y="2030934"/>
            <a:ext cx="1905001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Straight Connector 8"/>
          <p:cNvSpPr/>
          <p:nvPr/>
        </p:nvSpPr>
        <p:spPr>
          <a:xfrm>
            <a:off x="2895600" y="5750764"/>
            <a:ext cx="1295401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traight Connector 11"/>
          <p:cNvSpPr/>
          <p:nvPr/>
        </p:nvSpPr>
        <p:spPr>
          <a:xfrm>
            <a:off x="5638800" y="5750764"/>
            <a:ext cx="1524001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7D6233-5721-D911-58BD-7B680D907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134" y="1881294"/>
            <a:ext cx="4324350" cy="4143375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bject 2"/>
          <p:cNvSpPr/>
          <p:nvPr/>
        </p:nvSpPr>
        <p:spPr>
          <a:xfrm>
            <a:off x="838200" y="365124"/>
            <a:ext cx="8795286" cy="10554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68" y="21600"/>
                </a:moveTo>
                <a:lnTo>
                  <a:pt x="432" y="21600"/>
                </a:lnTo>
                <a:lnTo>
                  <a:pt x="317" y="21471"/>
                </a:lnTo>
                <a:lnTo>
                  <a:pt x="214" y="21108"/>
                </a:lnTo>
                <a:lnTo>
                  <a:pt x="127" y="20546"/>
                </a:lnTo>
                <a:lnTo>
                  <a:pt x="59" y="19817"/>
                </a:lnTo>
                <a:lnTo>
                  <a:pt x="15" y="18957"/>
                </a:lnTo>
                <a:lnTo>
                  <a:pt x="0" y="18000"/>
                </a:lnTo>
                <a:lnTo>
                  <a:pt x="0" y="3600"/>
                </a:lnTo>
                <a:lnTo>
                  <a:pt x="15" y="2643"/>
                </a:lnTo>
                <a:lnTo>
                  <a:pt x="59" y="1783"/>
                </a:lnTo>
                <a:lnTo>
                  <a:pt x="127" y="1054"/>
                </a:lnTo>
                <a:lnTo>
                  <a:pt x="214" y="492"/>
                </a:lnTo>
                <a:lnTo>
                  <a:pt x="317" y="129"/>
                </a:lnTo>
                <a:lnTo>
                  <a:pt x="432" y="0"/>
                </a:lnTo>
                <a:lnTo>
                  <a:pt x="21168" y="0"/>
                </a:lnTo>
                <a:lnTo>
                  <a:pt x="21333" y="274"/>
                </a:lnTo>
                <a:lnTo>
                  <a:pt x="21473" y="1054"/>
                </a:lnTo>
                <a:lnTo>
                  <a:pt x="2156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8957"/>
                </a:lnTo>
                <a:lnTo>
                  <a:pt x="21541" y="19817"/>
                </a:lnTo>
                <a:lnTo>
                  <a:pt x="21473" y="20546"/>
                </a:lnTo>
                <a:lnTo>
                  <a:pt x="21386" y="21108"/>
                </a:lnTo>
                <a:lnTo>
                  <a:pt x="21283" y="21471"/>
                </a:lnTo>
                <a:lnTo>
                  <a:pt x="21168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object 3"/>
          <p:cNvSpPr txBox="1"/>
          <p:nvPr/>
        </p:nvSpPr>
        <p:spPr>
          <a:xfrm>
            <a:off x="962748" y="734193"/>
            <a:ext cx="5571616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E20A2-EF14-B7B4-0AFC-DE1BEA06E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69" y="1420558"/>
            <a:ext cx="1020223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Data Collection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Use the UCI Heart Disease dataset with relevant medical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Data Preprocessing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Handle missing values, encode categorical variables, normalize data, and split into training/testing 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Feature Selection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Use techniques like correlation analysis or model-based importance to select key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Model Training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Train models such as Random Forest, SVM, Logistic Regression, and KNN.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Model Evaluation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Evaluate using accuracy, precision, recall, F1-score, and ROC-AUC.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Interpretation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Use feature importance or SHAP values to explain model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Deployment (Optional)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: Create a simple interface (e.g., web app) for real-time heart disease prediction.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103251-6921-F4E3-94D8-6A7CFF9F2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94" y="1081439"/>
            <a:ext cx="1087115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1: Environment Setup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Use Python with libraries like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pandas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numpy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scikit-learn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matplotlib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, and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seaborn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for data handling and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2: Load and Explore Data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Import the UCI Heart Disease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Analyze structure, data types, and identify missing or inconsistent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3: Data Preprocessing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Handle missing data (if any), encode categorical variables (e.g., chest pain type), and normalize numeric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Split data into training and testing sets (e.g., 80% train, 20% test).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Step 4: Train Models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Implement multiple models including: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Random Forest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Support Vector Machine (SVM)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Logistic Regression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K-Nearest Neighbors (KNN)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Use 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GridSearchCV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for hyperparameter tuning where necessary.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BC718CA-816E-DE92-51B0-96DF7A92A80E}"/>
              </a:ext>
            </a:extLst>
          </p:cNvPr>
          <p:cNvSpPr txBox="1"/>
          <p:nvPr/>
        </p:nvSpPr>
        <p:spPr>
          <a:xfrm>
            <a:off x="276309" y="527441"/>
            <a:ext cx="487104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bject 2"/>
          <p:cNvSpPr txBox="1"/>
          <p:nvPr/>
        </p:nvSpPr>
        <p:spPr>
          <a:xfrm>
            <a:off x="276309" y="527441"/>
            <a:ext cx="4871043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788011-64A6-9925-18B7-EF1585C63A42}"/>
              </a:ext>
            </a:extLst>
          </p:cNvPr>
          <p:cNvSpPr txBox="1"/>
          <p:nvPr/>
        </p:nvSpPr>
        <p:spPr>
          <a:xfrm>
            <a:off x="513708" y="1630537"/>
            <a:ext cx="8694505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Step 5: Model Evaluation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Evaluate using metrics: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F1-score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Confusion Matrix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ROC-AUC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Compare all models to select the best-performing one.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Step 6: Interpretation and Insights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 model-specific techniques like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feature importance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SHAP values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to explain predictions.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Step 7: (Optional) Build a GUI/Web App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Flask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Streamlit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to create an interface where users can input patient data and get predictions.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object 2"/>
          <p:cNvSpPr txBox="1"/>
          <p:nvPr/>
        </p:nvSpPr>
        <p:spPr>
          <a:xfrm>
            <a:off x="276310" y="527441"/>
            <a:ext cx="5477218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pc="-10">
                <a:solidFill>
                  <a:srgbClr val="FFFFFF"/>
                </a:solidFill>
              </a:defRPr>
            </a:lvl1pPr>
          </a:lstStyle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Results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FC695F-7D97-8FC7-7251-96B933B54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36" y="1485490"/>
            <a:ext cx="108803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Multiple machine learning models were trained and tested on the UCI Heart Disease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Among the models tested,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Random Forest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 achieved the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highest accuracy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755A8-0386-F3D7-A7CE-71FB91022B72}"/>
              </a:ext>
            </a:extLst>
          </p:cNvPr>
          <p:cNvSpPr txBox="1"/>
          <p:nvPr/>
        </p:nvSpPr>
        <p:spPr>
          <a:xfrm>
            <a:off x="184936" y="2685819"/>
            <a:ext cx="8910263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Random Forest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also showed strong interpretability through its feature importance scores, highlighting key predictors like: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Chest pain type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Maximum heart rate achieved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ST depression 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oldpeak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)</a:t>
            </a:r>
          </a:p>
          <a:p>
            <a:pPr marL="742950" marR="0" lvl="1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Resting blood pressure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final model provides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reliable and interpretable prediction tool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assisting in the early detection of heart disease.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55ECD-1D33-2C8B-AD64-44D032283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B775C8-4FE8-6038-AACE-51E9A86E5601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116476"/>
          <a:ext cx="10972800" cy="365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34367071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4323969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6252803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7958391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26861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49082093"/>
                    </a:ext>
                  </a:extLst>
                </a:gridCol>
              </a:tblGrid>
              <a:tr h="23810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7719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E4218F-1099-73BB-EEC1-888BB0C7F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542149"/>
              </p:ext>
            </p:extLst>
          </p:nvPr>
        </p:nvGraphicFramePr>
        <p:xfrm>
          <a:off x="464049" y="1114875"/>
          <a:ext cx="11263901" cy="545120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81207">
                  <a:extLst>
                    <a:ext uri="{9D8B030D-6E8A-4147-A177-3AD203B41FA5}">
                      <a16:colId xmlns:a16="http://schemas.microsoft.com/office/drawing/2014/main" val="2278162185"/>
                    </a:ext>
                  </a:extLst>
                </a:gridCol>
                <a:gridCol w="1210649">
                  <a:extLst>
                    <a:ext uri="{9D8B030D-6E8A-4147-A177-3AD203B41FA5}">
                      <a16:colId xmlns:a16="http://schemas.microsoft.com/office/drawing/2014/main" val="3677084446"/>
                    </a:ext>
                  </a:extLst>
                </a:gridCol>
                <a:gridCol w="1440094">
                  <a:extLst>
                    <a:ext uri="{9D8B030D-6E8A-4147-A177-3AD203B41FA5}">
                      <a16:colId xmlns:a16="http://schemas.microsoft.com/office/drawing/2014/main" val="4045268648"/>
                    </a:ext>
                  </a:extLst>
                </a:gridCol>
                <a:gridCol w="1877317">
                  <a:extLst>
                    <a:ext uri="{9D8B030D-6E8A-4147-A177-3AD203B41FA5}">
                      <a16:colId xmlns:a16="http://schemas.microsoft.com/office/drawing/2014/main" val="3830525518"/>
                    </a:ext>
                  </a:extLst>
                </a:gridCol>
                <a:gridCol w="1877317">
                  <a:extLst>
                    <a:ext uri="{9D8B030D-6E8A-4147-A177-3AD203B41FA5}">
                      <a16:colId xmlns:a16="http://schemas.microsoft.com/office/drawing/2014/main" val="1598482344"/>
                    </a:ext>
                  </a:extLst>
                </a:gridCol>
                <a:gridCol w="1877317">
                  <a:extLst>
                    <a:ext uri="{9D8B030D-6E8A-4147-A177-3AD203B41FA5}">
                      <a16:colId xmlns:a16="http://schemas.microsoft.com/office/drawing/2014/main" val="463579194"/>
                    </a:ext>
                  </a:extLst>
                </a:gridCol>
              </a:tblGrid>
              <a:tr h="838647">
                <a:tc>
                  <a:txBody>
                    <a:bodyPr/>
                    <a:lstStyle/>
                    <a:p>
                      <a:r>
                        <a:rPr lang="en-IN" sz="20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964041"/>
                  </a:ext>
                </a:extLst>
              </a:tr>
              <a:tr h="1467633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267668"/>
                  </a:ext>
                </a:extLst>
              </a:tr>
              <a:tr h="838647">
                <a:tc>
                  <a:txBody>
                    <a:bodyPr/>
                    <a:lstStyle/>
                    <a:p>
                      <a:r>
                        <a:rPr lang="en-IN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639929"/>
                  </a:ext>
                </a:extLst>
              </a:tr>
              <a:tr h="838647">
                <a:tc>
                  <a:txBody>
                    <a:bodyPr/>
                    <a:lstStyle/>
                    <a:p>
                      <a:r>
                        <a:rPr lang="en-IN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85%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385689"/>
                  </a:ext>
                </a:extLst>
              </a:tr>
              <a:tr h="1467633">
                <a:tc>
                  <a:txBody>
                    <a:bodyPr/>
                    <a:lstStyle/>
                    <a:p>
                      <a:r>
                        <a:rPr lang="en-IN" b="1" dirty="0"/>
                        <a:t>Random Forest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89%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90%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88%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89%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92%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675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1327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41BAE7-3709-1B55-E7D7-D509ED16C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70" y="565079"/>
            <a:ext cx="10437860" cy="55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0224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927897-C5C0-F480-9549-8F2DD18F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36" y="1577339"/>
            <a:ext cx="10037412" cy="428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197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6220E4-21DA-FACF-1B7E-CA6BB77E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3" y="1700373"/>
            <a:ext cx="10694006" cy="480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0909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bject 2"/>
          <p:cNvSpPr txBox="1"/>
          <p:nvPr/>
        </p:nvSpPr>
        <p:spPr>
          <a:xfrm>
            <a:off x="504631" y="407888"/>
            <a:ext cx="5591369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1270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 spc="-10">
                <a:solidFill>
                  <a:srgbClr val="FFFFFF"/>
                </a:solidFill>
              </a:defRPr>
            </a:pPr>
            <a:r>
              <a:rPr kumimoji="0" sz="32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Comparison</a:t>
            </a:r>
            <a:r>
              <a:rPr kumimoji="0" sz="3200" b="0" i="0" u="none" strike="noStrike" kern="0" cap="none" spc="-4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kumimoji="0" sz="3200" b="0" i="0" u="none" strike="noStrike" kern="0" cap="none" spc="-4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sz="32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kumimoji="0" sz="3200" b="0" i="0" u="none" strike="noStrike" kern="0" cap="none" spc="-4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sz="3200" b="0" i="0" u="none" strike="noStrike" kern="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work</a:t>
            </a:r>
          </a:p>
        </p:txBody>
      </p:sp>
      <p:sp>
        <p:nvSpPr>
          <p:cNvPr id="117" name="Rectangle 1"/>
          <p:cNvSpPr txBox="1"/>
          <p:nvPr/>
        </p:nvSpPr>
        <p:spPr>
          <a:xfrm>
            <a:off x="731519" y="2100661"/>
            <a:ext cx="874776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118" name="Rectangle 3"/>
          <p:cNvSpPr txBox="1"/>
          <p:nvPr/>
        </p:nvSpPr>
        <p:spPr>
          <a:xfrm>
            <a:off x="655319" y="4085819"/>
            <a:ext cx="8747762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latin typeface="Arial"/>
                <a:ea typeface="Arial"/>
                <a:cs typeface="Arial"/>
                <a:sym typeface="Arial"/>
              </a:defRPr>
            </a:pP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B7CD43-0D11-4079-3B43-8342AFE1E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15756"/>
              </p:ext>
            </p:extLst>
          </p:nvPr>
        </p:nvGraphicFramePr>
        <p:xfrm>
          <a:off x="655319" y="1230145"/>
          <a:ext cx="9644238" cy="5286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746">
                  <a:extLst>
                    <a:ext uri="{9D8B030D-6E8A-4147-A177-3AD203B41FA5}">
                      <a16:colId xmlns:a16="http://schemas.microsoft.com/office/drawing/2014/main" val="136496261"/>
                    </a:ext>
                  </a:extLst>
                </a:gridCol>
                <a:gridCol w="3214746">
                  <a:extLst>
                    <a:ext uri="{9D8B030D-6E8A-4147-A177-3AD203B41FA5}">
                      <a16:colId xmlns:a16="http://schemas.microsoft.com/office/drawing/2014/main" val="649375004"/>
                    </a:ext>
                  </a:extLst>
                </a:gridCol>
                <a:gridCol w="3214746">
                  <a:extLst>
                    <a:ext uri="{9D8B030D-6E8A-4147-A177-3AD203B41FA5}">
                      <a16:colId xmlns:a16="http://schemas.microsoft.com/office/drawing/2014/main" val="21208202"/>
                    </a:ext>
                  </a:extLst>
                </a:gridCol>
              </a:tblGrid>
              <a:tr h="321874">
                <a:tc>
                  <a:txBody>
                    <a:bodyPr/>
                    <a:lstStyle/>
                    <a:p>
                      <a:r>
                        <a:rPr lang="en-IN" b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Existing 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Your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139239"/>
                  </a:ext>
                </a:extLst>
              </a:tr>
              <a:tr h="1031760">
                <a:tc>
                  <a:txBody>
                    <a:bodyPr/>
                    <a:lstStyle/>
                    <a:p>
                      <a:r>
                        <a:rPr lang="en-IN" b="0"/>
                        <a:t>Dataset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Mostly UCI Heart Disease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UCI Heart Disease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119582"/>
                  </a:ext>
                </a:extLst>
              </a:tr>
              <a:tr h="1031760">
                <a:tc>
                  <a:txBody>
                    <a:bodyPr/>
                    <a:lstStyle/>
                    <a:p>
                      <a:r>
                        <a:rPr lang="en-IN" b="0"/>
                        <a:t>Algorithms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Decision Tree, Naïve Bayes, SVM, 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Random Forest, SVM, Logistic Regression, KNN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711908"/>
                  </a:ext>
                </a:extLst>
              </a:tr>
              <a:tr h="793661">
                <a:tc>
                  <a:txBody>
                    <a:bodyPr/>
                    <a:lstStyle/>
                    <a:p>
                      <a:r>
                        <a:rPr lang="en-IN" b="0"/>
                        <a:t>Accuracy 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78% – 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Up to 89% (Random Forest)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872651"/>
                  </a:ext>
                </a:extLst>
              </a:tr>
              <a:tr h="1031760">
                <a:tc>
                  <a:txBody>
                    <a:bodyPr/>
                    <a:lstStyle/>
                    <a:p>
                      <a:r>
                        <a:rPr lang="en-IN" b="0"/>
                        <a:t>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Limited or not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Included using feature importance and SHAP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6194"/>
                  </a:ext>
                </a:extLst>
              </a:tr>
              <a:tr h="1031760">
                <a:tc>
                  <a:txBody>
                    <a:bodyPr/>
                    <a:lstStyle/>
                    <a:p>
                      <a:r>
                        <a:rPr lang="en-IN" b="0"/>
                        <a:t>Evaluation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/>
                        <a:t>Mostly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Accuracy, Precision, Recall, F1-Score, 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605075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1A49BB-A3C8-D768-81F4-0F367E4AA252}"/>
              </a:ext>
            </a:extLst>
          </p:cNvPr>
          <p:cNvSpPr txBox="1"/>
          <p:nvPr/>
        </p:nvSpPr>
        <p:spPr>
          <a:xfrm>
            <a:off x="226032" y="1523264"/>
            <a:ext cx="10035688" cy="4154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Conclusion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project successfully developed 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machine learning-based model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predicting heart disease using the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UCI Heart Disease Dataset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Among various classifiers tested,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Random Forest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performed the best with an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accuracy of 89%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model's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interpretability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was enhanced using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SHAP values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and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feature importance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allowing healthcare professionals to better understand the driving factors behind predictions.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The project demonstrated that machine learning can be a valuable tool for early heart disease detection, with the potential to assist in clinical decision-making and improve patient outcomes.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3DD56-9F44-8175-2B84-F91BCF0B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332" y="1073905"/>
            <a:ext cx="10164566" cy="45262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Model Enhancement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Explore more advanced models like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Deep Learning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(e.g., Neural Networks) to further improve accuracy and robustness.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Real-Time Deployment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Integrate the model into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real-time prediction system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 mobile application for widespread use in hospitals and clinics.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Expansion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Incorporate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additional datasets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more features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(e.g., genetic data, lifestyle factors) to improve prediction accuracy and provide a more holistic view of heart disease risks.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Automated Monitoring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Develop systems for continuous monitoring and prediction using real-time health data (e.g., from wearable devices) to detect potential heart disease indicators earlier.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36801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bject 2"/>
          <p:cNvSpPr/>
          <p:nvPr/>
        </p:nvSpPr>
        <p:spPr>
          <a:xfrm>
            <a:off x="460341" y="247573"/>
            <a:ext cx="8970817" cy="10764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68" y="21600"/>
                </a:moveTo>
                <a:lnTo>
                  <a:pt x="432" y="21600"/>
                </a:lnTo>
                <a:lnTo>
                  <a:pt x="317" y="21471"/>
                </a:lnTo>
                <a:lnTo>
                  <a:pt x="214" y="21108"/>
                </a:lnTo>
                <a:lnTo>
                  <a:pt x="127" y="20546"/>
                </a:lnTo>
                <a:lnTo>
                  <a:pt x="59" y="19817"/>
                </a:lnTo>
                <a:lnTo>
                  <a:pt x="15" y="18957"/>
                </a:lnTo>
                <a:lnTo>
                  <a:pt x="0" y="18000"/>
                </a:lnTo>
                <a:lnTo>
                  <a:pt x="0" y="3600"/>
                </a:lnTo>
                <a:lnTo>
                  <a:pt x="15" y="2643"/>
                </a:lnTo>
                <a:lnTo>
                  <a:pt x="59" y="1783"/>
                </a:lnTo>
                <a:lnTo>
                  <a:pt x="127" y="1054"/>
                </a:lnTo>
                <a:lnTo>
                  <a:pt x="214" y="492"/>
                </a:lnTo>
                <a:lnTo>
                  <a:pt x="317" y="129"/>
                </a:lnTo>
                <a:lnTo>
                  <a:pt x="432" y="0"/>
                </a:lnTo>
                <a:lnTo>
                  <a:pt x="21168" y="0"/>
                </a:lnTo>
                <a:lnTo>
                  <a:pt x="21333" y="274"/>
                </a:lnTo>
                <a:lnTo>
                  <a:pt x="21473" y="1054"/>
                </a:lnTo>
                <a:lnTo>
                  <a:pt x="21567" y="2222"/>
                </a:lnTo>
                <a:lnTo>
                  <a:pt x="21600" y="3600"/>
                </a:lnTo>
                <a:lnTo>
                  <a:pt x="21600" y="18000"/>
                </a:lnTo>
                <a:lnTo>
                  <a:pt x="21585" y="18957"/>
                </a:lnTo>
                <a:lnTo>
                  <a:pt x="21541" y="19817"/>
                </a:lnTo>
                <a:lnTo>
                  <a:pt x="21473" y="20546"/>
                </a:lnTo>
                <a:lnTo>
                  <a:pt x="21386" y="21108"/>
                </a:lnTo>
                <a:lnTo>
                  <a:pt x="21283" y="21471"/>
                </a:lnTo>
                <a:lnTo>
                  <a:pt x="21168" y="21600"/>
                </a:lnTo>
                <a:close/>
              </a:path>
            </a:pathLst>
          </a:custGeom>
          <a:solidFill>
            <a:srgbClr val="5B9BD4"/>
          </a:solidFill>
          <a:ln w="12700">
            <a:miter lim="400000"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REFERENCE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3F7448-F61D-1290-2256-368AC085153A}"/>
              </a:ext>
            </a:extLst>
          </p:cNvPr>
          <p:cNvSpPr txBox="1"/>
          <p:nvPr/>
        </p:nvSpPr>
        <p:spPr>
          <a:xfrm>
            <a:off x="100745" y="1568766"/>
            <a:ext cx="8458199" cy="4925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1.World Health Organization . World Health Statistics 2021. World Health Organization; Geneva, Switzerland: 2021. 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2"/>
              </a:rPr>
              <a:t>Google Scholar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 Unicode MS"/>
              <a:cs typeface="Arial Unicode MS"/>
              <a:sym typeface="Calibri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2.Iswisi A.F.A., Karan O.,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Rahebi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 J. Diagnosis of Multiple Sclerosis Disease in Brain Magnetic Resonance Imaging Based on the Harris Hawks Optimization Algorithm. BioMed Res. Int. 2021;2021:3248834.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doi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: 10.1155/2021/3248834. 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3"/>
              </a:rPr>
              <a:t>DOI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4"/>
              </a:rPr>
              <a:t>PMC free article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5"/>
              </a:rPr>
              <a:t>PubMed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6"/>
              </a:rPr>
              <a:t>Google Scholar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 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7"/>
              </a:rPr>
              <a:t>Retracted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 Unicode MS"/>
              <a:cs typeface="Arial Unicode MS"/>
              <a:sym typeface="Calibri"/>
            </a:endParaRPr>
          </a:p>
          <a:p>
            <a:pPr marL="342900" marR="0" lvl="0" indent="-342900" algn="l" defTabSz="914400" rtl="0" eaLnBrk="1" fontAlgn="auto" latinLnBrk="0" hangingPunc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3.Al-Safi H.,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Munilla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 J.,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Rahebi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 J. Harris Hawks Optimization (HHO) Algorithm based on Artificial Neural Network for Heart Disease Diagnosis; Proceedings of the 2021 IEEE International Conference on Mobile Networks and Wireless Communications (ICMNWC); Tumkur, India. 3–4 December 2021; pp. 1–5. [</a:t>
            </a:r>
            <a:r>
              <a:rPr kumimoji="0" lang="en-IN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  <a:hlinkClick r:id="rId8"/>
              </a:rPr>
              <a:t>Google Scholar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Calibri"/>
              </a:rPr>
              <a:t>]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 Unicode MS"/>
              <a:cs typeface="Arial Unicode M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bject 2"/>
          <p:cNvSpPr txBox="1">
            <a:spLocks noGrp="1"/>
          </p:cNvSpPr>
          <p:nvPr>
            <p:ph type="title"/>
          </p:nvPr>
        </p:nvSpPr>
        <p:spPr>
          <a:xfrm>
            <a:off x="3858657" y="1679840"/>
            <a:ext cx="3907792" cy="2951482"/>
          </a:xfrm>
          <a:prstGeom prst="rect">
            <a:avLst/>
          </a:prstGeom>
        </p:spPr>
        <p:txBody>
          <a:bodyPr/>
          <a:lstStyle/>
          <a:p>
            <a:pPr marL="845185" marR="5080" indent="-833120">
              <a:spcBef>
                <a:spcPts val="100"/>
              </a:spcBef>
              <a:defRPr sz="9600" spc="-700">
                <a:solidFill>
                  <a:srgbClr val="71A1D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</a:t>
            </a:r>
            <a:r>
              <a:rPr spc="-1500"/>
              <a:t>Y</a:t>
            </a:r>
            <a:r>
              <a:rPr spc="-900"/>
              <a:t>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1285</Words>
  <Application>Microsoft Office PowerPoint</Application>
  <PresentationFormat>Widescreen</PresentationFormat>
  <Paragraphs>139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Gill Sans</vt:lpstr>
      <vt:lpstr>Gill Sans MT</vt:lpstr>
      <vt:lpstr>Helvetica</vt:lpstr>
      <vt:lpstr>Helvetica Neue</vt:lpstr>
      <vt:lpstr>Symbol</vt:lpstr>
      <vt:lpstr>Times New Roman</vt:lpstr>
      <vt:lpstr>Office Theme</vt:lpstr>
      <vt:lpstr>1_Office Theme</vt:lpstr>
      <vt:lpstr>PowerPoint Presentation</vt:lpstr>
      <vt:lpstr>Introduction</vt:lpstr>
      <vt:lpstr>Literature Survey</vt:lpstr>
      <vt:lpstr>Literature Survey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sivakumar thangamani</dc:creator>
  <cp:lastModifiedBy>sivakumar thangamani</cp:lastModifiedBy>
  <cp:revision>9</cp:revision>
  <dcterms:created xsi:type="dcterms:W3CDTF">2025-05-11T19:59:51Z</dcterms:created>
  <dcterms:modified xsi:type="dcterms:W3CDTF">2025-05-12T07:06:43Z</dcterms:modified>
</cp:coreProperties>
</file>